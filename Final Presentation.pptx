
<file path=[Content_Types].xml><?xml version="1.0" encoding="utf-8"?>
<Types xmlns="http://schemas.openxmlformats.org/package/2006/content-types">
  <Default Extension="gif" ContentType="image/gif"/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90" r:id="rId2"/>
    <p:sldId id="258" r:id="rId3"/>
    <p:sldId id="259" r:id="rId4"/>
    <p:sldId id="289" r:id="rId5"/>
    <p:sldId id="260" r:id="rId6"/>
    <p:sldId id="261" r:id="rId7"/>
    <p:sldId id="291" r:id="rId8"/>
    <p:sldId id="292" r:id="rId9"/>
    <p:sldId id="288" r:id="rId10"/>
    <p:sldId id="262" r:id="rId11"/>
    <p:sldId id="263" r:id="rId12"/>
    <p:sldId id="293" r:id="rId13"/>
    <p:sldId id="287" r:id="rId14"/>
    <p:sldId id="264" r:id="rId15"/>
    <p:sldId id="265" r:id="rId16"/>
    <p:sldId id="286" r:id="rId17"/>
    <p:sldId id="266" r:id="rId18"/>
    <p:sldId id="271" r:id="rId19"/>
    <p:sldId id="285" r:id="rId20"/>
    <p:sldId id="268" r:id="rId21"/>
    <p:sldId id="273" r:id="rId22"/>
    <p:sldId id="284" r:id="rId23"/>
    <p:sldId id="270" r:id="rId24"/>
    <p:sldId id="295" r:id="rId25"/>
    <p:sldId id="297" r:id="rId26"/>
    <p:sldId id="298" r:id="rId27"/>
    <p:sldId id="283" r:id="rId28"/>
    <p:sldId id="272" r:id="rId29"/>
    <p:sldId id="296" r:id="rId30"/>
    <p:sldId id="29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221D286-1E06-40B2-B533-DDFC3AE0DDE0}">
          <p14:sldIdLst>
            <p14:sldId id="290"/>
          </p14:sldIdLst>
        </p14:section>
        <p14:section name="Types of clustering algorithms" id="{D16973A3-EDB5-48E2-B9AF-9050E319D977}">
          <p14:sldIdLst>
            <p14:sldId id="258"/>
            <p14:sldId id="259"/>
            <p14:sldId id="289"/>
          </p14:sldIdLst>
        </p14:section>
        <p14:section name="SOC algorithm" id="{4FD5D4E6-F7C3-4914-9318-ED19C1E6FF14}">
          <p14:sldIdLst>
            <p14:sldId id="260"/>
            <p14:sldId id="261"/>
            <p14:sldId id="291"/>
            <p14:sldId id="292"/>
            <p14:sldId id="288"/>
          </p14:sldIdLst>
        </p14:section>
        <p14:section name="Measures of cluster quality" id="{0433E9D2-1814-48AD-9DC9-6C369C7905A5}">
          <p14:sldIdLst>
            <p14:sldId id="262"/>
            <p14:sldId id="263"/>
            <p14:sldId id="293"/>
            <p14:sldId id="287"/>
          </p14:sldIdLst>
        </p14:section>
        <p14:section name="Results and comparison" id="{D1794EA3-E97F-47F1-9BA2-C666310B0362}">
          <p14:sldIdLst>
            <p14:sldId id="264"/>
            <p14:sldId id="265"/>
            <p14:sldId id="286"/>
          </p14:sldIdLst>
        </p14:section>
        <p14:section name="Performance table" id="{E8FCBE11-F932-48E1-A632-5D60819C1CF5}">
          <p14:sldIdLst>
            <p14:sldId id="266"/>
            <p14:sldId id="271"/>
            <p14:sldId id="285"/>
          </p14:sldIdLst>
        </p14:section>
        <p14:section name="Challenges" id="{1DAD5F32-D26F-45D0-9156-CDF93550CF66}">
          <p14:sldIdLst>
            <p14:sldId id="268"/>
            <p14:sldId id="273"/>
            <p14:sldId id="284"/>
          </p14:sldIdLst>
        </p14:section>
        <p14:section name="Strength &amp; limitation" id="{A0485FA7-F47A-4BD4-B27B-48CE6D2AB06E}">
          <p14:sldIdLst>
            <p14:sldId id="270"/>
            <p14:sldId id="295"/>
            <p14:sldId id="297"/>
            <p14:sldId id="298"/>
            <p14:sldId id="283"/>
          </p14:sldIdLst>
        </p14:section>
        <p14:section name="Summary and Enhancement" id="{18D89ACB-5D47-4C99-8FF6-B396FE6CAB5E}">
          <p14:sldIdLst>
            <p14:sldId id="272"/>
            <p14:sldId id="296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22531"/>
    <a:srgbClr val="74F2F8"/>
    <a:srgbClr val="98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1" autoAdjust="0"/>
    <p:restoredTop sz="94539" autoAdjust="0"/>
  </p:normalViewPr>
  <p:slideViewPr>
    <p:cSldViewPr snapToGrid="0">
      <p:cViewPr>
        <p:scale>
          <a:sx n="66" d="100"/>
          <a:sy n="66" d="100"/>
        </p:scale>
        <p:origin x="716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25C8-E536-4ECD-8CAD-924F9838A8F3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6BF2C-5F55-491A-9979-D38113D72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059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E897-5C26-70CE-7342-876C898F4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0207A-7F67-6520-C70C-10F318E3B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E2B4-C53B-7F3C-A060-E58B9082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03A3-E987-4373-A402-F7FA9934BD7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DEA99-736B-2BAF-0206-D5B546D1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4B442-F8FB-ABA3-8AAF-CA432ACBC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75A4-ED74-4A90-8754-D4FBD2D64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8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D8B8A-D395-D43E-FD9D-A0DCA00B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7299-E809-B6BE-311B-5C12F0467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E815D-1E08-FEC3-C131-46F67C464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03A3-E987-4373-A402-F7FA9934BD7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5D6A5-A6A4-5413-E057-313AD27D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20176-7957-F2C4-C16D-2204556B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75A4-ED74-4A90-8754-D4FBD2D64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11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3FC29-6633-E87A-409B-1975B9637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7E867-D66C-0EA1-0249-A077F57D8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217B5-84BD-CBD3-53C8-70BFF1A7B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03A3-E987-4373-A402-F7FA9934BD7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99199-B235-AB4A-88F8-6D48DAC4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0D213-44B7-E133-BC25-B1D3BF7D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75A4-ED74-4A90-8754-D4FBD2D64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089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1C0E7-F7E4-F0D0-D71B-7102F7E60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F1FD5-B9B6-8E90-383C-F6E309FDD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393E6-6005-F3BF-0CF2-037490220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51E68-77BB-9C16-FDC5-F71539EC5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03A3-E987-4373-A402-F7FA9934BD7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E8B1B-2425-5DB6-98A7-3FF11702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BF275-F6DD-FBBB-2614-A983F54C2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75A4-ED74-4A90-8754-D4FBD2D64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700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4568-BB1D-1B2C-2D37-00B89426F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84583-B512-AF88-2A68-CF023646E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D724A-D1EE-1AE8-C097-EEAE1F94D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A95B18-6A8C-A666-AAB1-C0C0EFDAD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47BBED-EBF0-A606-D420-38C6C2A7C2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1E4686-3817-D7E1-86D1-6DAC2EA3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03A3-E987-4373-A402-F7FA9934BD7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FDAD48-3D28-3E60-3C9C-0CFF672A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A42275-A722-C420-A3E3-CC90F8B5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75A4-ED74-4A90-8754-D4FBD2D64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260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21101-84B5-E383-2232-3E832CE8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1E8C3-2F45-550B-3471-239F2E64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03A3-E987-4373-A402-F7FA9934BD7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EC7F5-4780-3DB8-A50E-FFED33D4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0FD31-708F-3900-DBD7-9FD24D7D0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75A4-ED74-4A90-8754-D4FBD2D64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775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80513B-CB69-5F6C-64C1-9403C882A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03A3-E987-4373-A402-F7FA9934BD7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2F3A56-011A-F35C-7E3B-2233D58AB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ACF09-CBC2-9DB8-3FAA-DE3C8B58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75A4-ED74-4A90-8754-D4FBD2D64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834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4838-1D10-E624-1F6D-781783185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143D2-9E12-C076-FE2C-B30FBA602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37468-B1A8-150B-011B-40B5B28DD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FC761-0C1B-8049-AA62-5CB68A297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03A3-E987-4373-A402-F7FA9934BD7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44AC8-D147-0296-6603-7372BDD3E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4B96C-6F6C-E88A-EFC1-6D84A9C00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75A4-ED74-4A90-8754-D4FBD2D64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84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E4B4E-8D11-E3D4-7748-EDE19A57F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BE2231-29C1-B941-F424-FB7DED6B2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FA0F1-A737-6964-2477-A41A1A84D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4A7EF-0B09-EEC2-DECB-16562BF81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03A3-E987-4373-A402-F7FA9934BD7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5DED3-677B-3F63-D61B-905A39E9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94BF6-6633-B0D2-E035-B196277C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75A4-ED74-4A90-8754-D4FBD2D64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084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7106F-7CF4-352E-24C0-7F87CED2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01608-80A7-FF05-9709-B5A23307F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BE3BF-7558-62EC-B2C0-23F3CC8D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03A3-E987-4373-A402-F7FA9934BD7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24718-7F24-47E6-217A-031C2597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FF842-1B38-FD25-CDB5-66184EE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75A4-ED74-4A90-8754-D4FBD2D64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01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FA19D7-411C-1722-BE62-F2DBC7147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F1BF1-6A82-821A-6A79-517F6E154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CE62A-D7C6-57A1-8672-C2C4C371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03A3-E987-4373-A402-F7FA9934BD7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F7562-9356-CA02-57A3-D45D0C35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3B5BD-C154-FEDA-681D-9D614A46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75A4-ED74-4A90-8754-D4FBD2D64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91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C2A3E-BF1A-95D3-990D-C47CDDE9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69004-1F04-EC07-12FE-96637EF6C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9E907-61FB-2A02-84F0-6AF87411A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B03A3-E987-4373-A402-F7FA9934BD7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39A4A-A134-C1C4-FB46-CF942BC8A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76C9C-04A1-B024-C05E-AD8317E92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375A4-ED74-4A90-8754-D4FBD2D64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19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.gif"/><Relationship Id="rId7" Type="http://schemas.openxmlformats.org/officeDocument/2006/relationships/slide" Target="slide2.xml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microsoft.com/office/2017/06/relationships/model3d" Target="../media/model3d1.glb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11.png"/><Relationship Id="rId3" Type="http://schemas.openxmlformats.org/officeDocument/2006/relationships/image" Target="../media/image2.gif"/><Relationship Id="rId7" Type="http://schemas.openxmlformats.org/officeDocument/2006/relationships/slide" Target="slide2.xml"/><Relationship Id="rId12" Type="http://schemas.microsoft.com/office/2017/06/relationships/model3d" Target="../media/model3d2.glb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0.png"/><Relationship Id="rId5" Type="http://schemas.openxmlformats.org/officeDocument/2006/relationships/image" Target="../media/image9.png"/><Relationship Id="rId15" Type="http://schemas.openxmlformats.org/officeDocument/2006/relationships/image" Target="../media/image13.png"/><Relationship Id="rId10" Type="http://schemas.openxmlformats.org/officeDocument/2006/relationships/slide" Target="slide5.xml"/><Relationship Id="rId4" Type="http://schemas.microsoft.com/office/2017/06/relationships/model3d" Target="../media/model3d1.glb"/><Relationship Id="rId9" Type="http://schemas.openxmlformats.org/officeDocument/2006/relationships/image" Target="../media/image10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slide" Target="slide10.xml"/><Relationship Id="rId18" Type="http://schemas.openxmlformats.org/officeDocument/2006/relationships/image" Target="../media/image24.png"/><Relationship Id="rId3" Type="http://schemas.openxmlformats.org/officeDocument/2006/relationships/image" Target="../media/image2.gif"/><Relationship Id="rId7" Type="http://schemas.openxmlformats.org/officeDocument/2006/relationships/slide" Target="slide2.xml"/><Relationship Id="rId12" Type="http://schemas.openxmlformats.org/officeDocument/2006/relationships/image" Target="../media/image21.png"/><Relationship Id="rId17" Type="http://schemas.openxmlformats.org/officeDocument/2006/relationships/image" Target="../media/image23.pn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0.png"/><Relationship Id="rId5" Type="http://schemas.openxmlformats.org/officeDocument/2006/relationships/image" Target="../media/image20.png"/><Relationship Id="rId15" Type="http://schemas.microsoft.com/office/2017/06/relationships/model3d" Target="../media/model3d2.glb"/><Relationship Id="rId10" Type="http://schemas.openxmlformats.org/officeDocument/2006/relationships/slide" Target="slide5.xml"/><Relationship Id="rId4" Type="http://schemas.microsoft.com/office/2017/06/relationships/model3d" Target="../media/model3d1.glb"/><Relationship Id="rId9" Type="http://schemas.openxmlformats.org/officeDocument/2006/relationships/image" Target="../media/image10.png"/><Relationship Id="rId14" Type="http://schemas.openxmlformats.org/officeDocument/2006/relationships/image" Target="../media/image19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slide" Target="slide10.xml"/><Relationship Id="rId18" Type="http://schemas.microsoft.com/office/2017/06/relationships/model3d" Target="../media/model3d2.glb"/><Relationship Id="rId3" Type="http://schemas.openxmlformats.org/officeDocument/2006/relationships/image" Target="../media/image2.gif"/><Relationship Id="rId21" Type="http://schemas.openxmlformats.org/officeDocument/2006/relationships/image" Target="../media/image13.png"/><Relationship Id="rId7" Type="http://schemas.openxmlformats.org/officeDocument/2006/relationships/slide" Target="slide2.xml"/><Relationship Id="rId12" Type="http://schemas.openxmlformats.org/officeDocument/2006/relationships/image" Target="../media/image21.png"/><Relationship Id="rId17" Type="http://schemas.openxmlformats.org/officeDocument/2006/relationships/image" Target="../media/image230.png"/><Relationship Id="rId2" Type="http://schemas.openxmlformats.org/officeDocument/2006/relationships/image" Target="../media/image1.png"/><Relationship Id="rId16" Type="http://schemas.openxmlformats.org/officeDocument/2006/relationships/slide" Target="slide14.xm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0.png"/><Relationship Id="rId5" Type="http://schemas.openxmlformats.org/officeDocument/2006/relationships/image" Target="../media/image9.png"/><Relationship Id="rId15" Type="http://schemas.openxmlformats.org/officeDocument/2006/relationships/image" Target="../media/image25.png"/><Relationship Id="rId10" Type="http://schemas.openxmlformats.org/officeDocument/2006/relationships/slide" Target="slide5.xml"/><Relationship Id="rId19" Type="http://schemas.openxmlformats.org/officeDocument/2006/relationships/image" Target="../media/image11.png"/><Relationship Id="rId4" Type="http://schemas.microsoft.com/office/2017/06/relationships/model3d" Target="../media/model3d1.glb"/><Relationship Id="rId9" Type="http://schemas.openxmlformats.org/officeDocument/2006/relationships/image" Target="../media/image10.png"/><Relationship Id="rId14" Type="http://schemas.openxmlformats.org/officeDocument/2006/relationships/image" Target="../media/image19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slide" Target="slide10.xml"/><Relationship Id="rId18" Type="http://schemas.openxmlformats.org/officeDocument/2006/relationships/image" Target="../media/image26.png"/><Relationship Id="rId3" Type="http://schemas.openxmlformats.org/officeDocument/2006/relationships/image" Target="../media/image2.gif"/><Relationship Id="rId21" Type="http://schemas.microsoft.com/office/2017/06/relationships/model3d" Target="../media/model3d2.glb"/><Relationship Id="rId7" Type="http://schemas.openxmlformats.org/officeDocument/2006/relationships/slide" Target="slide2.xml"/><Relationship Id="rId12" Type="http://schemas.openxmlformats.org/officeDocument/2006/relationships/image" Target="../media/image21.png"/><Relationship Id="rId17" Type="http://schemas.openxmlformats.org/officeDocument/2006/relationships/image" Target="../media/image230.png"/><Relationship Id="rId2" Type="http://schemas.openxmlformats.org/officeDocument/2006/relationships/image" Target="../media/image1.png"/><Relationship Id="rId16" Type="http://schemas.openxmlformats.org/officeDocument/2006/relationships/slide" Target="slide14.xml"/><Relationship Id="rId20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0.png"/><Relationship Id="rId24" Type="http://schemas.openxmlformats.org/officeDocument/2006/relationships/image" Target="../media/image13.png"/><Relationship Id="rId5" Type="http://schemas.openxmlformats.org/officeDocument/2006/relationships/image" Target="../media/image9.png"/><Relationship Id="rId15" Type="http://schemas.openxmlformats.org/officeDocument/2006/relationships/image" Target="../media/image25.png"/><Relationship Id="rId23" Type="http://schemas.openxmlformats.org/officeDocument/2006/relationships/image" Target="../media/image12.png"/><Relationship Id="rId10" Type="http://schemas.openxmlformats.org/officeDocument/2006/relationships/slide" Target="slide5.xml"/><Relationship Id="rId19" Type="http://schemas.openxmlformats.org/officeDocument/2006/relationships/slide" Target="slide17.xml"/><Relationship Id="rId4" Type="http://schemas.microsoft.com/office/2017/06/relationships/model3d" Target="../media/model3d1.glb"/><Relationship Id="rId9" Type="http://schemas.openxmlformats.org/officeDocument/2006/relationships/image" Target="../media/image10.png"/><Relationship Id="rId14" Type="http://schemas.openxmlformats.org/officeDocument/2006/relationships/image" Target="../media/image190.png"/><Relationship Id="rId22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slide" Target="slide10.xml"/><Relationship Id="rId18" Type="http://schemas.openxmlformats.org/officeDocument/2006/relationships/image" Target="../media/image26.png"/><Relationship Id="rId26" Type="http://schemas.openxmlformats.org/officeDocument/2006/relationships/image" Target="../media/image12.png"/><Relationship Id="rId3" Type="http://schemas.openxmlformats.org/officeDocument/2006/relationships/image" Target="../media/image2.gif"/><Relationship Id="rId21" Type="http://schemas.openxmlformats.org/officeDocument/2006/relationships/image" Target="../media/image27.png"/><Relationship Id="rId7" Type="http://schemas.openxmlformats.org/officeDocument/2006/relationships/slide" Target="slide2.xml"/><Relationship Id="rId12" Type="http://schemas.openxmlformats.org/officeDocument/2006/relationships/image" Target="../media/image21.png"/><Relationship Id="rId17" Type="http://schemas.openxmlformats.org/officeDocument/2006/relationships/image" Target="../media/image230.png"/><Relationship Id="rId25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slide" Target="slide14.xml"/><Relationship Id="rId20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0.png"/><Relationship Id="rId24" Type="http://schemas.microsoft.com/office/2017/06/relationships/model3d" Target="../media/model3d2.glb"/><Relationship Id="rId5" Type="http://schemas.openxmlformats.org/officeDocument/2006/relationships/image" Target="../media/image9.png"/><Relationship Id="rId15" Type="http://schemas.openxmlformats.org/officeDocument/2006/relationships/image" Target="../media/image25.png"/><Relationship Id="rId23" Type="http://schemas.openxmlformats.org/officeDocument/2006/relationships/image" Target="../media/image280.png"/><Relationship Id="rId10" Type="http://schemas.openxmlformats.org/officeDocument/2006/relationships/slide" Target="slide5.xml"/><Relationship Id="rId19" Type="http://schemas.openxmlformats.org/officeDocument/2006/relationships/slide" Target="slide17.xml"/><Relationship Id="rId4" Type="http://schemas.microsoft.com/office/2017/06/relationships/model3d" Target="../media/model3d1.glb"/><Relationship Id="rId9" Type="http://schemas.openxmlformats.org/officeDocument/2006/relationships/image" Target="../media/image10.png"/><Relationship Id="rId14" Type="http://schemas.openxmlformats.org/officeDocument/2006/relationships/image" Target="../media/image190.png"/><Relationship Id="rId22" Type="http://schemas.openxmlformats.org/officeDocument/2006/relationships/slide" Target="slide20.xml"/><Relationship Id="rId27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slide" Target="slide10.xml"/><Relationship Id="rId18" Type="http://schemas.openxmlformats.org/officeDocument/2006/relationships/image" Target="../media/image26.png"/><Relationship Id="rId26" Type="http://schemas.openxmlformats.org/officeDocument/2006/relationships/image" Target="../media/image310.png"/><Relationship Id="rId3" Type="http://schemas.openxmlformats.org/officeDocument/2006/relationships/image" Target="../media/image2.gif"/><Relationship Id="rId21" Type="http://schemas.openxmlformats.org/officeDocument/2006/relationships/image" Target="../media/image27.png"/><Relationship Id="rId7" Type="http://schemas.openxmlformats.org/officeDocument/2006/relationships/slide" Target="slide2.xml"/><Relationship Id="rId12" Type="http://schemas.openxmlformats.org/officeDocument/2006/relationships/image" Target="../media/image21.png"/><Relationship Id="rId17" Type="http://schemas.openxmlformats.org/officeDocument/2006/relationships/image" Target="../media/image230.png"/><Relationship Id="rId25" Type="http://schemas.openxmlformats.org/officeDocument/2006/relationships/slide" Target="slide23.xml"/><Relationship Id="rId2" Type="http://schemas.openxmlformats.org/officeDocument/2006/relationships/image" Target="../media/image1.png"/><Relationship Id="rId16" Type="http://schemas.openxmlformats.org/officeDocument/2006/relationships/slide" Target="slide14.xml"/><Relationship Id="rId20" Type="http://schemas.openxmlformats.org/officeDocument/2006/relationships/image" Target="../media/image260.png"/><Relationship Id="rId29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0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25.png"/><Relationship Id="rId23" Type="http://schemas.openxmlformats.org/officeDocument/2006/relationships/image" Target="../media/image280.png"/><Relationship Id="rId28" Type="http://schemas.openxmlformats.org/officeDocument/2006/relationships/image" Target="../media/image11.png"/><Relationship Id="rId10" Type="http://schemas.openxmlformats.org/officeDocument/2006/relationships/slide" Target="slide5.xml"/><Relationship Id="rId19" Type="http://schemas.openxmlformats.org/officeDocument/2006/relationships/slide" Target="slide17.xml"/><Relationship Id="rId4" Type="http://schemas.microsoft.com/office/2017/06/relationships/model3d" Target="../media/model3d1.glb"/><Relationship Id="rId9" Type="http://schemas.openxmlformats.org/officeDocument/2006/relationships/image" Target="../media/image10.png"/><Relationship Id="rId14" Type="http://schemas.openxmlformats.org/officeDocument/2006/relationships/image" Target="../media/image190.png"/><Relationship Id="rId22" Type="http://schemas.openxmlformats.org/officeDocument/2006/relationships/slide" Target="slide20.xml"/><Relationship Id="rId27" Type="http://schemas.microsoft.com/office/2017/06/relationships/model3d" Target="../media/model3d2.glb"/><Relationship Id="rId30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slide" Target="slide10.xml"/><Relationship Id="rId18" Type="http://schemas.openxmlformats.org/officeDocument/2006/relationships/image" Target="../media/image26.png"/><Relationship Id="rId26" Type="http://schemas.openxmlformats.org/officeDocument/2006/relationships/image" Target="../media/image310.png"/><Relationship Id="rId3" Type="http://schemas.openxmlformats.org/officeDocument/2006/relationships/image" Target="../media/image2.gif"/><Relationship Id="rId21" Type="http://schemas.openxmlformats.org/officeDocument/2006/relationships/image" Target="../media/image27.png"/><Relationship Id="rId7" Type="http://schemas.openxmlformats.org/officeDocument/2006/relationships/slide" Target="slide2.xml"/><Relationship Id="rId12" Type="http://schemas.openxmlformats.org/officeDocument/2006/relationships/image" Target="../media/image21.png"/><Relationship Id="rId17" Type="http://schemas.openxmlformats.org/officeDocument/2006/relationships/image" Target="../media/image230.png"/><Relationship Id="rId25" Type="http://schemas.openxmlformats.org/officeDocument/2006/relationships/slide" Target="slide23.xml"/><Relationship Id="rId33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slide" Target="slide14.xml"/><Relationship Id="rId20" Type="http://schemas.openxmlformats.org/officeDocument/2006/relationships/image" Target="../media/image260.png"/><Relationship Id="rId29" Type="http://schemas.openxmlformats.org/officeDocument/2006/relationships/image" Target="../media/image3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0.png"/><Relationship Id="rId24" Type="http://schemas.openxmlformats.org/officeDocument/2006/relationships/image" Target="../media/image28.png"/><Relationship Id="rId32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25.png"/><Relationship Id="rId23" Type="http://schemas.openxmlformats.org/officeDocument/2006/relationships/image" Target="../media/image280.png"/><Relationship Id="rId28" Type="http://schemas.openxmlformats.org/officeDocument/2006/relationships/slide" Target="slide28.xml"/><Relationship Id="rId10" Type="http://schemas.openxmlformats.org/officeDocument/2006/relationships/slide" Target="slide5.xml"/><Relationship Id="rId19" Type="http://schemas.openxmlformats.org/officeDocument/2006/relationships/slide" Target="slide17.xml"/><Relationship Id="rId31" Type="http://schemas.openxmlformats.org/officeDocument/2006/relationships/image" Target="../media/image11.png"/><Relationship Id="rId4" Type="http://schemas.microsoft.com/office/2017/06/relationships/model3d" Target="../media/model3d1.glb"/><Relationship Id="rId9" Type="http://schemas.openxmlformats.org/officeDocument/2006/relationships/image" Target="../media/image10.png"/><Relationship Id="rId14" Type="http://schemas.openxmlformats.org/officeDocument/2006/relationships/image" Target="../media/image190.png"/><Relationship Id="rId22" Type="http://schemas.openxmlformats.org/officeDocument/2006/relationships/slide" Target="slide20.xml"/><Relationship Id="rId27" Type="http://schemas.openxmlformats.org/officeDocument/2006/relationships/image" Target="../media/image33.png"/><Relationship Id="rId30" Type="http://schemas.microsoft.com/office/2017/06/relationships/model3d" Target="../media/model3d2.glb"/><Relationship Id="rId8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3928B-6F7C-C4DB-FB0C-EAEDCE608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ainting of a lake with mountains and trees">
            <a:extLst>
              <a:ext uri="{FF2B5EF4-FFF2-40B4-BE49-F238E27FC236}">
                <a16:creationId xmlns:a16="http://schemas.microsoft.com/office/drawing/2014/main" id="{9C3C0B7F-694B-27A4-97B2-FFBBDEC735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145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water">
            <a:extLst>
              <a:ext uri="{FF2B5EF4-FFF2-40B4-BE49-F238E27FC236}">
                <a16:creationId xmlns:a16="http://schemas.microsoft.com/office/drawing/2014/main" id="{95E733E2-42D3-6313-36DA-383CFE0C5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4926226"/>
            <a:ext cx="12192000" cy="1931773"/>
          </a:xfrm>
          <a:prstGeom prst="rect">
            <a:avLst/>
          </a:prstGeom>
        </p:spPr>
      </p:pic>
      <p:pic>
        <p:nvPicPr>
          <p:cNvPr id="7" name="Picture 6" descr="A painting of a lake with mountains and trees&#10;&#10;AI-generated content may be incorrect.">
            <a:extLst>
              <a:ext uri="{FF2B5EF4-FFF2-40B4-BE49-F238E27FC236}">
                <a16:creationId xmlns:a16="http://schemas.microsoft.com/office/drawing/2014/main" id="{E88F692E-E8E9-F31B-801D-C0742DEF66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34520"/>
          <a:stretch/>
        </p:blipFill>
        <p:spPr>
          <a:xfrm>
            <a:off x="0" y="0"/>
            <a:ext cx="12192000" cy="4926225"/>
          </a:xfrm>
          <a:prstGeom prst="rect">
            <a:avLst/>
          </a:prstGeom>
          <a:effectLst>
            <a:reflection blurRad="6350" stA="30000" endPos="57000" dist="139700" dir="5400000" sy="-100000" algn="bl" rotWithShape="0"/>
          </a:effec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Row Boat">
                <a:extLst>
                  <a:ext uri="{FF2B5EF4-FFF2-40B4-BE49-F238E27FC236}">
                    <a16:creationId xmlns:a16="http://schemas.microsoft.com/office/drawing/2014/main" id="{FCD6ACFA-39A3-22CC-A8C4-79638D9FCC7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87189976"/>
                  </p:ext>
                </p:extLst>
              </p:nvPr>
            </p:nvGraphicFramePr>
            <p:xfrm>
              <a:off x="-917673" y="4967973"/>
              <a:ext cx="1127440" cy="38844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127440" cy="38844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glow>
                        <a:schemeClr val="accent1"/>
                      </a:glow>
                      <a:outerShdw blurRad="50800" dir="5400000" sx="79000" sy="79000" algn="t" rotWithShape="0">
                        <a:prstClr val="black">
                          <a:alpha val="0"/>
                        </a:prstClr>
                      </a:outerShdw>
                      <a:reflection stA="82000" dir="5400000" sy="-100000" algn="bl" rotWithShape="0"/>
                      <a:softEdge rad="25400"/>
                    </a:effectLst>
                    <a:scene3d>
                      <a:camera prst="orthographicFront"/>
                      <a:lightRig rig="flood" dir="t"/>
                    </a:scene3d>
                    <a:sp3d z="-95250" extrusionH="76200">
                      <a:extrusionClr>
                        <a:srgbClr val="222531"/>
                      </a:extrusionClr>
                    </a:sp3d>
                  </am3d:spPr>
                  <am3d:camera>
                    <am3d:pos x="0" y="0" z="6736780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50578" d="1000000"/>
                    <am3d:preTrans dx="0" dy="-5157511" dz="-655980"/>
                    <am3d:scale>
                      <am3d:sx n="1000000" d="1000000"/>
                      <am3d:sy n="1000000" d="1000000"/>
                      <am3d:sz n="1000000" d="1000000"/>
                    </am3d:scale>
                    <am3d:rot ax="133689" ay="4982798" az="13271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5443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Row Boat">
                <a:extLst>
                  <a:ext uri="{FF2B5EF4-FFF2-40B4-BE49-F238E27FC236}">
                    <a16:creationId xmlns:a16="http://schemas.microsoft.com/office/drawing/2014/main" id="{FCD6ACFA-39A3-22CC-A8C4-79638D9FCC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17673" y="4967973"/>
                <a:ext cx="1127440" cy="388446"/>
              </a:xfrm>
              <a:prstGeom prst="rect">
                <a:avLst/>
              </a:prstGeom>
              <a:noFill/>
              <a:ln>
                <a:noFill/>
              </a:ln>
              <a:effectLst>
                <a:glow>
                  <a:schemeClr val="accent1"/>
                </a:glow>
                <a:outerShdw blurRad="50800" dir="5400000" sx="79000" sy="79000" algn="t" rotWithShape="0">
                  <a:prstClr val="black">
                    <a:alpha val="0"/>
                  </a:prstClr>
                </a:outerShdw>
                <a:reflection stA="82000" dir="5400000" sy="-100000" algn="bl" rotWithShape="0"/>
                <a:softEdge rad="25400"/>
              </a:effectLst>
              <a:scene3d>
                <a:camera prst="orthographicFront"/>
                <a:lightRig rig="flood" dir="t"/>
              </a:scene3d>
              <a:sp3d z="-95250" extrusionH="76200">
                <a:extrusionClr>
                  <a:srgbClr val="222531"/>
                </a:extrusion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0" name="Section Zoom 19">
                <a:extLst>
                  <a:ext uri="{FF2B5EF4-FFF2-40B4-BE49-F238E27FC236}">
                    <a16:creationId xmlns:a16="http://schemas.microsoft.com/office/drawing/2014/main" id="{F740C41F-B694-DA91-33AD-2F60CD7AE61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6963215"/>
                  </p:ext>
                </p:extLst>
              </p:nvPr>
            </p:nvGraphicFramePr>
            <p:xfrm>
              <a:off x="375797" y="3722370"/>
              <a:ext cx="1611630" cy="906542"/>
            </p:xfrm>
            <a:graphic>
              <a:graphicData uri="http://schemas.microsoft.com/office/powerpoint/2016/sectionzoom">
                <psez:sectionZm>
                  <psez:sectionZmObj sectionId="{D16973A3-EDB5-48E2-B9AF-9050E319D977}">
                    <psez:zmPr id="{4AC8DD4F-1764-4E96-86BF-8AC0B4EBBCAC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1630" cy="906542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0" name="Section Zoom 19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F740C41F-B694-DA91-33AD-2F60CD7AE6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5797" y="3722370"/>
                <a:ext cx="1611630" cy="906542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8D3FEF7-74F4-CFDF-C72C-ABD0B6DB6757}"/>
              </a:ext>
            </a:extLst>
          </p:cNvPr>
          <p:cNvSpPr txBox="1"/>
          <p:nvPr/>
        </p:nvSpPr>
        <p:spPr>
          <a:xfrm>
            <a:off x="1685183" y="1732268"/>
            <a:ext cx="901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Self-Optimal Clustering Technique Using Optimized Threshold Function</a:t>
            </a:r>
            <a:endParaRPr lang="en-IN" sz="4400" b="1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D112512-C63A-0E16-1D26-F73AF322C4B7}"/>
              </a:ext>
            </a:extLst>
          </p:cNvPr>
          <p:cNvGrpSpPr/>
          <p:nvPr/>
        </p:nvGrpSpPr>
        <p:grpSpPr>
          <a:xfrm>
            <a:off x="1819720" y="94425"/>
            <a:ext cx="10277351" cy="1456583"/>
            <a:chOff x="789577" y="129149"/>
            <a:chExt cx="10277351" cy="1456583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19" name="3D Model 18" descr="Cloud">
                  <a:extLst>
                    <a:ext uri="{FF2B5EF4-FFF2-40B4-BE49-F238E27FC236}">
                      <a16:creationId xmlns:a16="http://schemas.microsoft.com/office/drawing/2014/main" id="{1BE68338-6C10-E0B5-C0D3-7EB30BA04F7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134794316"/>
                    </p:ext>
                  </p:extLst>
                </p:nvPr>
              </p:nvGraphicFramePr>
              <p:xfrm>
                <a:off x="9670930" y="183163"/>
                <a:ext cx="1395998" cy="876300"/>
              </p:xfrm>
              <a:graphic>
                <a:graphicData uri="http://schemas.microsoft.com/office/drawing/2017/model3d">
                  <am3d:model3d r:embed="rId9">
                    <am3d:spPr>
                      <a:xfrm>
                        <a:off x="0" y="0"/>
                        <a:ext cx="1395998" cy="876300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0"/>
                    </am3d:raster>
                    <am3d:objViewport viewportSz="1870827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19" name="3D Model 18" descr="Cloud">
                  <a:extLst>
                    <a:ext uri="{FF2B5EF4-FFF2-40B4-BE49-F238E27FC236}">
                      <a16:creationId xmlns:a16="http://schemas.microsoft.com/office/drawing/2014/main" id="{1BE68338-6C10-E0B5-C0D3-7EB30BA04F7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01073" y="148439"/>
                  <a:ext cx="1395998" cy="876300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1" name="3D Model 20" descr="Cloud">
                  <a:extLst>
                    <a:ext uri="{FF2B5EF4-FFF2-40B4-BE49-F238E27FC236}">
                      <a16:creationId xmlns:a16="http://schemas.microsoft.com/office/drawing/2014/main" id="{91605D42-1F96-C4E3-AFB6-0453A9B931C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110759365"/>
                    </p:ext>
                  </p:extLst>
                </p:nvPr>
              </p:nvGraphicFramePr>
              <p:xfrm>
                <a:off x="9036253" y="543908"/>
                <a:ext cx="1659688" cy="1041824"/>
              </p:xfrm>
              <a:graphic>
                <a:graphicData uri="http://schemas.microsoft.com/office/drawing/2017/model3d">
                  <am3d:model3d r:embed="rId9">
                    <am3d:spPr>
                      <a:xfrm>
                        <a:off x="0" y="0"/>
                        <a:ext cx="1659688" cy="1041824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1"/>
                    </am3d:raster>
                    <am3d:objViewport viewportSz="2224208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1" name="3D Model 20" descr="Cloud">
                  <a:extLst>
                    <a:ext uri="{FF2B5EF4-FFF2-40B4-BE49-F238E27FC236}">
                      <a16:creationId xmlns:a16="http://schemas.microsoft.com/office/drawing/2014/main" id="{91605D42-1F96-C4E3-AFB6-0453A9B931C6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66396" y="509184"/>
                  <a:ext cx="1659688" cy="1041824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3" name="3D Model 22" descr="Cloud">
                  <a:extLst>
                    <a:ext uri="{FF2B5EF4-FFF2-40B4-BE49-F238E27FC236}">
                      <a16:creationId xmlns:a16="http://schemas.microsoft.com/office/drawing/2014/main" id="{0E8F7DAF-0E59-BA66-D51D-C868D0D5F12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4333704"/>
                    </p:ext>
                  </p:extLst>
                </p:nvPr>
              </p:nvGraphicFramePr>
              <p:xfrm>
                <a:off x="7498748" y="129149"/>
                <a:ext cx="1008643" cy="633148"/>
              </p:xfrm>
              <a:graphic>
                <a:graphicData uri="http://schemas.microsoft.com/office/drawing/2017/model3d">
                  <am3d:model3d r:embed="rId9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2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3" name="3D Model 22" descr="Cloud">
                  <a:extLst>
                    <a:ext uri="{FF2B5EF4-FFF2-40B4-BE49-F238E27FC236}">
                      <a16:creationId xmlns:a16="http://schemas.microsoft.com/office/drawing/2014/main" id="{0E8F7DAF-0E59-BA66-D51D-C868D0D5F12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28891" y="94425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5" name="3D Model 24" descr="Cloud">
                  <a:extLst>
                    <a:ext uri="{FF2B5EF4-FFF2-40B4-BE49-F238E27FC236}">
                      <a16:creationId xmlns:a16="http://schemas.microsoft.com/office/drawing/2014/main" id="{8D8B2BC5-14B0-2FEC-2D5D-C251060CB4C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22548073"/>
                    </p:ext>
                  </p:extLst>
                </p:nvPr>
              </p:nvGraphicFramePr>
              <p:xfrm>
                <a:off x="2940250" y="871860"/>
                <a:ext cx="1008643" cy="633148"/>
              </p:xfrm>
              <a:graphic>
                <a:graphicData uri="http://schemas.microsoft.com/office/drawing/2017/model3d">
                  <am3d:model3d r:embed="rId9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noFill/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2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5" name="3D Model 24" descr="Cloud">
                  <a:extLst>
                    <a:ext uri="{FF2B5EF4-FFF2-40B4-BE49-F238E27FC236}">
                      <a16:creationId xmlns:a16="http://schemas.microsoft.com/office/drawing/2014/main" id="{8D8B2BC5-14B0-2FEC-2D5D-C251060CB4CE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970393" y="837136"/>
                  <a:ext cx="1008643" cy="633148"/>
                </a:xfrm>
                <a:prstGeom prst="rect">
                  <a:avLst/>
                </a:prstGeom>
                <a:noFill/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7" name="3D Model 26" descr="Cloud">
                  <a:extLst>
                    <a:ext uri="{FF2B5EF4-FFF2-40B4-BE49-F238E27FC236}">
                      <a16:creationId xmlns:a16="http://schemas.microsoft.com/office/drawing/2014/main" id="{09E58611-6450-8575-25FD-FBA3E9692AD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73889641"/>
                    </p:ext>
                  </p:extLst>
                </p:nvPr>
              </p:nvGraphicFramePr>
              <p:xfrm>
                <a:off x="789577" y="426315"/>
                <a:ext cx="1008643" cy="633148"/>
              </p:xfrm>
              <a:graphic>
                <a:graphicData uri="http://schemas.microsoft.com/office/drawing/2017/model3d">
                  <am3d:model3d r:embed="rId9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2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7" name="3D Model 26" descr="Cloud">
                  <a:extLst>
                    <a:ext uri="{FF2B5EF4-FFF2-40B4-BE49-F238E27FC236}">
                      <a16:creationId xmlns:a16="http://schemas.microsoft.com/office/drawing/2014/main" id="{09E58611-6450-8575-25FD-FBA3E9692AD0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19720" y="391591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6322C85-8E3E-7541-5EC5-93D2E61A6550}"/>
              </a:ext>
            </a:extLst>
          </p:cNvPr>
          <p:cNvSpPr txBox="1"/>
          <p:nvPr/>
        </p:nvSpPr>
        <p:spPr>
          <a:xfrm>
            <a:off x="7832607" y="6375343"/>
            <a:ext cx="4264464" cy="668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BY PRAKHAR,ABHISHEK,RACHIT AND KUNAL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76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0092 L 0.12513 0.00092 " pathEditMode="relative" ptsTypes="AA">
                                      <p:cBhvr>
                                        <p:cTn id="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59259E-6 L -0.07981 2.59259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D06676C6-5470-523B-89E0-03B148EF47AC}"/>
              </a:ext>
            </a:extLst>
          </p:cNvPr>
          <p:cNvGrpSpPr/>
          <p:nvPr/>
        </p:nvGrpSpPr>
        <p:grpSpPr>
          <a:xfrm>
            <a:off x="2779551" y="185420"/>
            <a:ext cx="6697980" cy="6487160"/>
            <a:chOff x="2747010" y="185420"/>
            <a:chExt cx="6697980" cy="6487160"/>
          </a:xfrm>
        </p:grpSpPr>
        <p:sp>
          <p:nvSpPr>
            <p:cNvPr id="82" name="Flowchart: Connector 81">
              <a:extLst>
                <a:ext uri="{FF2B5EF4-FFF2-40B4-BE49-F238E27FC236}">
                  <a16:creationId xmlns:a16="http://schemas.microsoft.com/office/drawing/2014/main" id="{C58D2B9A-1F87-8B45-FAAA-8F2C2F6058D9}"/>
                </a:ext>
              </a:extLst>
            </p:cNvPr>
            <p:cNvSpPr/>
            <p:nvPr/>
          </p:nvSpPr>
          <p:spPr>
            <a:xfrm>
              <a:off x="2747010" y="185420"/>
              <a:ext cx="6697980" cy="6487160"/>
            </a:xfrm>
            <a:prstGeom prst="flowChartConnector">
              <a:avLst/>
            </a:prstGeom>
            <a:solidFill>
              <a:srgbClr val="989292">
                <a:alpha val="40000"/>
              </a:srgbClr>
            </a:solidFill>
            <a:ln w="152400">
              <a:solidFill>
                <a:srgbClr val="00B05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1A1F7B3-8D33-21C3-461E-EF4CA9F185AD}"/>
                </a:ext>
              </a:extLst>
            </p:cNvPr>
            <p:cNvSpPr txBox="1"/>
            <p:nvPr/>
          </p:nvSpPr>
          <p:spPr>
            <a:xfrm>
              <a:off x="4531360" y="3678535"/>
              <a:ext cx="3281680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11500" b="1" dirty="0">
                <a:solidFill>
                  <a:srgbClr val="FFFFFF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1A948E6-5D88-1C76-1F04-CFFC1C74A9FE}"/>
                </a:ext>
              </a:extLst>
            </p:cNvPr>
            <p:cNvSpPr txBox="1"/>
            <p:nvPr/>
          </p:nvSpPr>
          <p:spPr>
            <a:xfrm>
              <a:off x="2866546" y="1684983"/>
              <a:ext cx="6458908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6600" b="1" dirty="0">
                  <a:solidFill>
                    <a:schemeClr val="bg1"/>
                  </a:solidFill>
                </a:rPr>
                <a:t>TYPES OF CLUSTERING ALGORITHM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285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5A7325E-0863-DAF3-831A-CD3E11C2E0B6}"/>
              </a:ext>
            </a:extLst>
          </p:cNvPr>
          <p:cNvSpPr/>
          <p:nvPr/>
        </p:nvSpPr>
        <p:spPr>
          <a:xfrm>
            <a:off x="0" y="0"/>
            <a:ext cx="12192000" cy="68464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 descr="A group of cubes floating in the air">
            <a:extLst>
              <a:ext uri="{FF2B5EF4-FFF2-40B4-BE49-F238E27FC236}">
                <a16:creationId xmlns:a16="http://schemas.microsoft.com/office/drawing/2014/main" id="{5BB74CD2-69D1-B22C-DCF1-A3BB0EDB4A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20" b="12420"/>
          <a:stretch>
            <a:fillRect/>
          </a:stretch>
        </p:blipFill>
        <p:spPr>
          <a:xfrm>
            <a:off x="0" y="-972000"/>
            <a:ext cx="12192000" cy="78184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FC623FF-91E0-B556-3843-1B61B651141A}"/>
              </a:ext>
            </a:extLst>
          </p:cNvPr>
          <p:cNvGrpSpPr/>
          <p:nvPr/>
        </p:nvGrpSpPr>
        <p:grpSpPr>
          <a:xfrm>
            <a:off x="-1367478" y="-3831081"/>
            <a:ext cx="14992038" cy="14520162"/>
            <a:chOff x="-1400019" y="-3831081"/>
            <a:chExt cx="14992038" cy="14520162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D4A6B6F7-F8FD-DCD5-A0E2-AF914FFA5F96}"/>
                </a:ext>
              </a:extLst>
            </p:cNvPr>
            <p:cNvSpPr/>
            <p:nvPr/>
          </p:nvSpPr>
          <p:spPr>
            <a:xfrm>
              <a:off x="-1400019" y="-3831081"/>
              <a:ext cx="14992038" cy="14520162"/>
            </a:xfrm>
            <a:prstGeom prst="flowChartConnector">
              <a:avLst/>
            </a:prstGeom>
            <a:noFill/>
            <a:ln w="152400">
              <a:solidFill>
                <a:srgbClr val="FF000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F62E52-3099-6BF2-E678-F3F59FA5D318}"/>
                </a:ext>
              </a:extLst>
            </p:cNvPr>
            <p:cNvSpPr txBox="1"/>
            <p:nvPr/>
          </p:nvSpPr>
          <p:spPr>
            <a:xfrm>
              <a:off x="10362107" y="600164"/>
              <a:ext cx="179735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6000" dirty="0">
                <a:solidFill>
                  <a:srgbClr val="C00000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6B535AE-F193-4A6D-FA03-533414F235C1}"/>
                </a:ext>
              </a:extLst>
            </p:cNvPr>
            <p:cNvSpPr txBox="1"/>
            <p:nvPr/>
          </p:nvSpPr>
          <p:spPr>
            <a:xfrm>
              <a:off x="-167780" y="217782"/>
              <a:ext cx="125275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800" b="1" dirty="0"/>
                <a:t>TYPES OF CLUSTERING ALGORITHM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43548E2-2A91-0733-B7BD-16AD887A3A93}"/>
              </a:ext>
            </a:extLst>
          </p:cNvPr>
          <p:cNvSpPr txBox="1"/>
          <p:nvPr/>
        </p:nvSpPr>
        <p:spPr>
          <a:xfrm>
            <a:off x="932501" y="1058131"/>
            <a:ext cx="75731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K-Means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Fuzzy c – Means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Expectation–maximization clustering(EM)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K-</a:t>
            </a:r>
            <a:r>
              <a:rPr lang="en-IN" dirty="0" err="1"/>
              <a:t>Mediods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DBE926-961E-0D46-140E-27953379E56A}"/>
              </a:ext>
            </a:extLst>
          </p:cNvPr>
          <p:cNvSpPr txBox="1"/>
          <p:nvPr/>
        </p:nvSpPr>
        <p:spPr>
          <a:xfrm>
            <a:off x="2820368" y="2567913"/>
            <a:ext cx="757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In all these clustering Algorithms we need to specify the number of clusters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A5191-4B18-AA0F-8BCB-AFB5201CE193}"/>
              </a:ext>
            </a:extLst>
          </p:cNvPr>
          <p:cNvSpPr txBox="1"/>
          <p:nvPr/>
        </p:nvSpPr>
        <p:spPr>
          <a:xfrm>
            <a:off x="652300" y="3057211"/>
            <a:ext cx="10952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Goal</a:t>
            </a:r>
            <a:r>
              <a:rPr lang="en-US" sz="1800" dirty="0"/>
              <a:t>: Automatically determine both the number of clusters and optimal cluster centers via a dynamic thresholding strategy</a:t>
            </a:r>
            <a:r>
              <a:rPr lang="en-US" dirty="0"/>
              <a:t>.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36112A-80BB-108E-D82A-87168C1FDFC3}"/>
              </a:ext>
            </a:extLst>
          </p:cNvPr>
          <p:cNvSpPr txBox="1"/>
          <p:nvPr/>
        </p:nvSpPr>
        <p:spPr>
          <a:xfrm>
            <a:off x="652300" y="3862222"/>
            <a:ext cx="8435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Threshold function is optimized using Lagrange's form of interpolation polynomial. 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A4F15E-D7C7-60DC-E0E1-FCA3AC8B041B}"/>
              </a:ext>
            </a:extLst>
          </p:cNvPr>
          <p:cNvSpPr txBox="1"/>
          <p:nvPr/>
        </p:nvSpPr>
        <p:spPr>
          <a:xfrm>
            <a:off x="652300" y="4777457"/>
            <a:ext cx="96300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Our Goal</a:t>
            </a:r>
            <a:r>
              <a:rPr lang="en-US" sz="1800" dirty="0"/>
              <a:t>: Automatically determine both the number of clusters and optimal cluster centers. </a:t>
            </a:r>
          </a:p>
          <a:p>
            <a:endParaRPr lang="en-US" sz="1800" dirty="0"/>
          </a:p>
          <a:p>
            <a:r>
              <a:rPr lang="en-IN" sz="1800" b="1" dirty="0"/>
              <a:t>Self‑Optimal Clustering (SOC</a:t>
            </a:r>
            <a:r>
              <a:rPr lang="en-IN" sz="1800" dirty="0"/>
              <a:t>)</a:t>
            </a:r>
            <a:r>
              <a:rPr lang="en-US" sz="1800" dirty="0"/>
              <a:t>:</a:t>
            </a:r>
          </a:p>
          <a:p>
            <a:r>
              <a:rPr lang="en-US" sz="1800" dirty="0"/>
              <a:t>SOC helps to find clusters by Threshold based clustering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4166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63694-8F36-C546-2000-0325EAC1D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ainting of a lake with mountains and trees">
            <a:extLst>
              <a:ext uri="{FF2B5EF4-FFF2-40B4-BE49-F238E27FC236}">
                <a16:creationId xmlns:a16="http://schemas.microsoft.com/office/drawing/2014/main" id="{D76E045C-69B7-946B-A702-628630C205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145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water">
            <a:extLst>
              <a:ext uri="{FF2B5EF4-FFF2-40B4-BE49-F238E27FC236}">
                <a16:creationId xmlns:a16="http://schemas.microsoft.com/office/drawing/2014/main" id="{8F470B0E-CA37-CE17-1315-89B9429F7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4926226"/>
            <a:ext cx="12192000" cy="1931773"/>
          </a:xfrm>
          <a:prstGeom prst="rect">
            <a:avLst/>
          </a:prstGeom>
        </p:spPr>
      </p:pic>
      <p:pic>
        <p:nvPicPr>
          <p:cNvPr id="7" name="Picture 6" descr="A painting of a lake with mountains and trees&#10;&#10;AI-generated content may be incorrect.">
            <a:extLst>
              <a:ext uri="{FF2B5EF4-FFF2-40B4-BE49-F238E27FC236}">
                <a16:creationId xmlns:a16="http://schemas.microsoft.com/office/drawing/2014/main" id="{725543EE-3ADE-B406-2EFB-04433E5111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34520"/>
          <a:stretch/>
        </p:blipFill>
        <p:spPr>
          <a:xfrm>
            <a:off x="0" y="0"/>
            <a:ext cx="12192000" cy="4926225"/>
          </a:xfrm>
          <a:prstGeom prst="rect">
            <a:avLst/>
          </a:prstGeom>
          <a:effectLst>
            <a:reflection blurRad="6350" stA="30000" endPos="57000" dist="139700" dir="5400000" sy="-100000" algn="bl" rotWithShape="0"/>
          </a:effec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Row Boat">
                <a:extLst>
                  <a:ext uri="{FF2B5EF4-FFF2-40B4-BE49-F238E27FC236}">
                    <a16:creationId xmlns:a16="http://schemas.microsoft.com/office/drawing/2014/main" id="{67C4896C-52A0-6731-DB65-384BB7FFC83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917673" y="4967973"/>
              <a:ext cx="1127440" cy="38844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127440" cy="38844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glow>
                        <a:schemeClr val="accent1"/>
                      </a:glow>
                      <a:outerShdw blurRad="50800" dir="5400000" sx="79000" sy="79000" algn="t" rotWithShape="0">
                        <a:prstClr val="black">
                          <a:alpha val="0"/>
                        </a:prstClr>
                      </a:outerShdw>
                      <a:reflection stA="82000" dir="5400000" sy="-100000" algn="bl" rotWithShape="0"/>
                      <a:softEdge rad="25400"/>
                    </a:effectLst>
                    <a:scene3d>
                      <a:camera prst="orthographicFront"/>
                      <a:lightRig rig="flood" dir="t"/>
                    </a:scene3d>
                    <a:sp3d z="-95250" extrusionH="76200">
                      <a:extrusionClr>
                        <a:srgbClr val="222531"/>
                      </a:extrusionClr>
                    </a:sp3d>
                  </am3d:spPr>
                  <am3d:camera>
                    <am3d:pos x="0" y="0" z="6736780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50578" d="1000000"/>
                    <am3d:preTrans dx="0" dy="-5157511" dz="-655980"/>
                    <am3d:scale>
                      <am3d:sx n="1000000" d="1000000"/>
                      <am3d:sy n="1000000" d="1000000"/>
                      <am3d:sz n="1000000" d="1000000"/>
                    </am3d:scale>
                    <am3d:rot ax="133689" ay="4982798" az="13271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5443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Row Boat">
                <a:extLst>
                  <a:ext uri="{FF2B5EF4-FFF2-40B4-BE49-F238E27FC236}">
                    <a16:creationId xmlns:a16="http://schemas.microsoft.com/office/drawing/2014/main" id="{67C4896C-52A0-6731-DB65-384BB7FFC8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17673" y="4967973"/>
                <a:ext cx="1127440" cy="388446"/>
              </a:xfrm>
              <a:prstGeom prst="rect">
                <a:avLst/>
              </a:prstGeom>
              <a:noFill/>
              <a:ln>
                <a:noFill/>
              </a:ln>
              <a:effectLst>
                <a:glow>
                  <a:schemeClr val="accent1"/>
                </a:glow>
                <a:outerShdw blurRad="50800" dir="5400000" sx="79000" sy="79000" algn="t" rotWithShape="0">
                  <a:prstClr val="black">
                    <a:alpha val="0"/>
                  </a:prstClr>
                </a:outerShdw>
                <a:reflection stA="82000" dir="5400000" sy="-100000" algn="bl" rotWithShape="0"/>
                <a:softEdge rad="25400"/>
              </a:effectLst>
              <a:scene3d>
                <a:camera prst="orthographicFront"/>
                <a:lightRig rig="flood" dir="t"/>
              </a:scene3d>
              <a:sp3d z="-95250" extrusionH="76200">
                <a:extrusionClr>
                  <a:srgbClr val="222531"/>
                </a:extrusion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0" name="Section Zoom 19">
                <a:extLst>
                  <a:ext uri="{FF2B5EF4-FFF2-40B4-BE49-F238E27FC236}">
                    <a16:creationId xmlns:a16="http://schemas.microsoft.com/office/drawing/2014/main" id="{5B324665-1335-2E76-BF9A-E486D56093DD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375797" y="3722370"/>
              <a:ext cx="1611630" cy="906542"/>
            </p:xfrm>
            <a:graphic>
              <a:graphicData uri="http://schemas.microsoft.com/office/powerpoint/2016/sectionzoom">
                <psez:sectionZm>
                  <psez:sectionZmObj sectionId="{D16973A3-EDB5-48E2-B9AF-9050E319D977}">
                    <psez:zmPr id="{4AC8DD4F-1764-4E96-86BF-8AC0B4EBBCAC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1630" cy="906542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0" name="Section Zoom 19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5B324665-1335-2E76-BF9A-E486D56093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5797" y="3722370"/>
                <a:ext cx="1611630" cy="906542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2" name="Section Zoom 21">
                <a:extLst>
                  <a:ext uri="{FF2B5EF4-FFF2-40B4-BE49-F238E27FC236}">
                    <a16:creationId xmlns:a16="http://schemas.microsoft.com/office/drawing/2014/main" id="{3844DA69-C42C-824D-C84B-BAE4266D010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38881145"/>
                  </p:ext>
                </p:extLst>
              </p:nvPr>
            </p:nvGraphicFramePr>
            <p:xfrm>
              <a:off x="1782430" y="372364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4FD5D4E6-F7C3-4914-9318-ED19C1E6FF14}">
                    <psez:zmPr id="{7B59E664-5E19-4CAE-BE00-1984AB46BA51}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2" name="Section Zoom 21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3844DA69-C42C-824D-C84B-BAE4266D01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82430" y="372364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67670E6-681B-A7E7-52EA-D676062FEAC4}"/>
              </a:ext>
            </a:extLst>
          </p:cNvPr>
          <p:cNvGrpSpPr/>
          <p:nvPr/>
        </p:nvGrpSpPr>
        <p:grpSpPr>
          <a:xfrm>
            <a:off x="1819720" y="94425"/>
            <a:ext cx="10277351" cy="1456583"/>
            <a:chOff x="789577" y="129149"/>
            <a:chExt cx="10277351" cy="1456583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19" name="3D Model 18" descr="Cloud">
                  <a:extLst>
                    <a:ext uri="{FF2B5EF4-FFF2-40B4-BE49-F238E27FC236}">
                      <a16:creationId xmlns:a16="http://schemas.microsoft.com/office/drawing/2014/main" id="{9A88DC18-A088-3F59-19BB-AB7D9572AA8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22845377"/>
                    </p:ext>
                  </p:extLst>
                </p:nvPr>
              </p:nvGraphicFramePr>
              <p:xfrm>
                <a:off x="9670930" y="183163"/>
                <a:ext cx="1395998" cy="876300"/>
              </p:xfrm>
              <a:graphic>
                <a:graphicData uri="http://schemas.microsoft.com/office/drawing/2017/model3d">
                  <am3d:model3d r:embed="rId12">
                    <am3d:spPr>
                      <a:xfrm>
                        <a:off x="0" y="0"/>
                        <a:ext cx="1395998" cy="876300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3"/>
                    </am3d:raster>
                    <am3d:objViewport viewportSz="1870827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19" name="3D Model 18" descr="Cloud">
                  <a:extLst>
                    <a:ext uri="{FF2B5EF4-FFF2-40B4-BE49-F238E27FC236}">
                      <a16:creationId xmlns:a16="http://schemas.microsoft.com/office/drawing/2014/main" id="{9A88DC18-A088-3F59-19BB-AB7D9572AA8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01073" y="148439"/>
                  <a:ext cx="1395998" cy="876300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1" name="3D Model 20" descr="Cloud">
                  <a:extLst>
                    <a:ext uri="{FF2B5EF4-FFF2-40B4-BE49-F238E27FC236}">
                      <a16:creationId xmlns:a16="http://schemas.microsoft.com/office/drawing/2014/main" id="{F8C722A9-59B4-FB5A-5BE9-0D4E260F19E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11182582"/>
                    </p:ext>
                  </p:extLst>
                </p:nvPr>
              </p:nvGraphicFramePr>
              <p:xfrm>
                <a:off x="9036253" y="543908"/>
                <a:ext cx="1659688" cy="1041824"/>
              </p:xfrm>
              <a:graphic>
                <a:graphicData uri="http://schemas.microsoft.com/office/drawing/2017/model3d">
                  <am3d:model3d r:embed="rId12">
                    <am3d:spPr>
                      <a:xfrm>
                        <a:off x="0" y="0"/>
                        <a:ext cx="1659688" cy="1041824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4"/>
                    </am3d:raster>
                    <am3d:objViewport viewportSz="2224208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1" name="3D Model 20" descr="Cloud">
                  <a:extLst>
                    <a:ext uri="{FF2B5EF4-FFF2-40B4-BE49-F238E27FC236}">
                      <a16:creationId xmlns:a16="http://schemas.microsoft.com/office/drawing/2014/main" id="{F8C722A9-59B4-FB5A-5BE9-0D4E260F19E8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066396" y="509184"/>
                  <a:ext cx="1659688" cy="1041824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3" name="3D Model 22" descr="Cloud">
                  <a:extLst>
                    <a:ext uri="{FF2B5EF4-FFF2-40B4-BE49-F238E27FC236}">
                      <a16:creationId xmlns:a16="http://schemas.microsoft.com/office/drawing/2014/main" id="{E1B8BBC3-32C5-8695-6021-6337F006661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29515010"/>
                    </p:ext>
                  </p:extLst>
                </p:nvPr>
              </p:nvGraphicFramePr>
              <p:xfrm>
                <a:off x="7498748" y="129149"/>
                <a:ext cx="1008643" cy="633148"/>
              </p:xfrm>
              <a:graphic>
                <a:graphicData uri="http://schemas.microsoft.com/office/drawing/2017/model3d">
                  <am3d:model3d r:embed="rId12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5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3" name="3D Model 22" descr="Cloud">
                  <a:extLst>
                    <a:ext uri="{FF2B5EF4-FFF2-40B4-BE49-F238E27FC236}">
                      <a16:creationId xmlns:a16="http://schemas.microsoft.com/office/drawing/2014/main" id="{E1B8BBC3-32C5-8695-6021-6337F0066616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28891" y="94425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5" name="3D Model 24" descr="Cloud">
                  <a:extLst>
                    <a:ext uri="{FF2B5EF4-FFF2-40B4-BE49-F238E27FC236}">
                      <a16:creationId xmlns:a16="http://schemas.microsoft.com/office/drawing/2014/main" id="{C9A9B2E6-87BC-F309-4921-6DA5D9D1098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96031359"/>
                    </p:ext>
                  </p:extLst>
                </p:nvPr>
              </p:nvGraphicFramePr>
              <p:xfrm>
                <a:off x="2940250" y="871860"/>
                <a:ext cx="1008643" cy="633148"/>
              </p:xfrm>
              <a:graphic>
                <a:graphicData uri="http://schemas.microsoft.com/office/drawing/2017/model3d">
                  <am3d:model3d r:embed="rId12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noFill/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5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5" name="3D Model 24" descr="Cloud">
                  <a:extLst>
                    <a:ext uri="{FF2B5EF4-FFF2-40B4-BE49-F238E27FC236}">
                      <a16:creationId xmlns:a16="http://schemas.microsoft.com/office/drawing/2014/main" id="{C9A9B2E6-87BC-F309-4921-6DA5D9D10986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70393" y="837136"/>
                  <a:ext cx="1008643" cy="633148"/>
                </a:xfrm>
                <a:prstGeom prst="rect">
                  <a:avLst/>
                </a:prstGeom>
                <a:noFill/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7" name="3D Model 26" descr="Cloud">
                  <a:extLst>
                    <a:ext uri="{FF2B5EF4-FFF2-40B4-BE49-F238E27FC236}">
                      <a16:creationId xmlns:a16="http://schemas.microsoft.com/office/drawing/2014/main" id="{69DCCB9E-0D9E-11FE-2AFC-B55B6F6F3FE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10944347"/>
                    </p:ext>
                  </p:extLst>
                </p:nvPr>
              </p:nvGraphicFramePr>
              <p:xfrm>
                <a:off x="789577" y="426315"/>
                <a:ext cx="1008643" cy="633148"/>
              </p:xfrm>
              <a:graphic>
                <a:graphicData uri="http://schemas.microsoft.com/office/drawing/2017/model3d">
                  <am3d:model3d r:embed="rId12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5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7" name="3D Model 26" descr="Cloud">
                  <a:extLst>
                    <a:ext uri="{FF2B5EF4-FFF2-40B4-BE49-F238E27FC236}">
                      <a16:creationId xmlns:a16="http://schemas.microsoft.com/office/drawing/2014/main" id="{69DCCB9E-0D9E-11FE-2AFC-B55B6F6F3FE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19720" y="391591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D87BA6E-53FB-0583-BCE3-83EE7AC89525}"/>
              </a:ext>
            </a:extLst>
          </p:cNvPr>
          <p:cNvSpPr txBox="1"/>
          <p:nvPr/>
        </p:nvSpPr>
        <p:spPr>
          <a:xfrm>
            <a:off x="1685183" y="1732268"/>
            <a:ext cx="901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Self-Optimal Clustering Technique Using Optimized Threshold Function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250250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448 0.00208 L 0.24089 0.00208 " pathEditMode="relative" ptsTypes="AA">
                                      <p:cBhvr>
                                        <p:cTn id="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59259E-6 L -0.07981 2.59259E-6 " pathEditMode="relative" rAng="0" ptsTypes="AA">
                                      <p:cBhvr>
                                        <p:cTn id="8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6B7E464-8B02-153E-EABB-0D77A3CBD269}"/>
              </a:ext>
            </a:extLst>
          </p:cNvPr>
          <p:cNvGrpSpPr/>
          <p:nvPr/>
        </p:nvGrpSpPr>
        <p:grpSpPr>
          <a:xfrm>
            <a:off x="2779551" y="185420"/>
            <a:ext cx="6737073" cy="6487160"/>
            <a:chOff x="2747010" y="185420"/>
            <a:chExt cx="6737073" cy="6487160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5A9114F5-224A-EC2D-438D-5874422AAC79}"/>
                </a:ext>
              </a:extLst>
            </p:cNvPr>
            <p:cNvSpPr/>
            <p:nvPr/>
          </p:nvSpPr>
          <p:spPr>
            <a:xfrm>
              <a:off x="2747010" y="185420"/>
              <a:ext cx="6697980" cy="6487160"/>
            </a:xfrm>
            <a:prstGeom prst="flowChartConnector">
              <a:avLst/>
            </a:prstGeom>
            <a:solidFill>
              <a:srgbClr val="989292">
                <a:alpha val="40000"/>
              </a:srgbClr>
            </a:solidFill>
            <a:ln w="152400">
              <a:solidFill>
                <a:srgbClr val="00B05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5217407-525D-9A12-834F-CA0E2B07EA53}"/>
                </a:ext>
              </a:extLst>
            </p:cNvPr>
            <p:cNvSpPr txBox="1"/>
            <p:nvPr/>
          </p:nvSpPr>
          <p:spPr>
            <a:xfrm>
              <a:off x="3578763" y="3678535"/>
              <a:ext cx="5905320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11500" b="1" dirty="0">
                <a:solidFill>
                  <a:srgbClr val="FFFFFF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846B90E-68DB-FB21-55F8-E322E00C16E3}"/>
                </a:ext>
              </a:extLst>
            </p:cNvPr>
            <p:cNvSpPr txBox="1"/>
            <p:nvPr/>
          </p:nvSpPr>
          <p:spPr>
            <a:xfrm>
              <a:off x="2966046" y="2327899"/>
              <a:ext cx="6259907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6000" b="1" dirty="0">
                  <a:solidFill>
                    <a:srgbClr val="FFFFFF"/>
                  </a:solidFill>
                </a:rPr>
                <a:t>SOC </a:t>
              </a:r>
            </a:p>
            <a:p>
              <a:pPr algn="ctr"/>
              <a:r>
                <a:rPr lang="en-IN" sz="6000" b="1" dirty="0">
                  <a:solidFill>
                    <a:srgbClr val="FFFFFF"/>
                  </a:solidFill>
                </a:rPr>
                <a:t>ALGORITHM</a:t>
              </a:r>
              <a:endParaRPr lang="en-IN" sz="4000" b="1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447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EB76997-D037-3517-0081-C0C0F48072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A group of cubes floating in the air">
            <a:extLst>
              <a:ext uri="{FF2B5EF4-FFF2-40B4-BE49-F238E27FC236}">
                <a16:creationId xmlns:a16="http://schemas.microsoft.com/office/drawing/2014/main" id="{5B6DE743-B2B9-E5C7-1A52-6111E1952E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20" b="12420"/>
          <a:stretch>
            <a:fillRect/>
          </a:stretch>
        </p:blipFill>
        <p:spPr>
          <a:xfrm>
            <a:off x="0" y="-972000"/>
            <a:ext cx="12192000" cy="78184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EC48294-2E29-84E8-63B8-19864A6C6588}"/>
              </a:ext>
            </a:extLst>
          </p:cNvPr>
          <p:cNvGrpSpPr/>
          <p:nvPr/>
        </p:nvGrpSpPr>
        <p:grpSpPr>
          <a:xfrm>
            <a:off x="-1620964" y="-4076588"/>
            <a:ext cx="15499010" cy="15011176"/>
            <a:chOff x="-1653505" y="-4076588"/>
            <a:chExt cx="15499010" cy="15011176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0741F53E-8B4B-30CB-A679-7233B4ED1C99}"/>
                </a:ext>
              </a:extLst>
            </p:cNvPr>
            <p:cNvSpPr/>
            <p:nvPr/>
          </p:nvSpPr>
          <p:spPr>
            <a:xfrm>
              <a:off x="-1653505" y="-4076588"/>
              <a:ext cx="15499010" cy="15011176"/>
            </a:xfrm>
            <a:prstGeom prst="flowChartConnector">
              <a:avLst/>
            </a:prstGeom>
            <a:noFill/>
            <a:ln w="152400">
              <a:solidFill>
                <a:srgbClr val="00B05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8069B7F-91F3-1F57-C234-E8BB915EACC2}"/>
                </a:ext>
              </a:extLst>
            </p:cNvPr>
            <p:cNvSpPr txBox="1"/>
            <p:nvPr/>
          </p:nvSpPr>
          <p:spPr>
            <a:xfrm>
              <a:off x="9161234" y="611245"/>
              <a:ext cx="32816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36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1D3C96E-D6A2-DEF5-6075-E04B47EDC4D1}"/>
                </a:ext>
              </a:extLst>
            </p:cNvPr>
            <p:cNvSpPr txBox="1"/>
            <p:nvPr/>
          </p:nvSpPr>
          <p:spPr>
            <a:xfrm>
              <a:off x="2586383" y="257302"/>
              <a:ext cx="694406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/>
                <a:t>SOC ALGORITHM</a:t>
              </a:r>
              <a:endParaRPr lang="en-IN" sz="2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089226-D96F-7497-0AEC-0647C9F286E5}"/>
                  </a:ext>
                </a:extLst>
              </p:cNvPr>
              <p:cNvSpPr txBox="1"/>
              <p:nvPr/>
            </p:nvSpPr>
            <p:spPr>
              <a:xfrm>
                <a:off x="997708" y="1222490"/>
                <a:ext cx="10615171" cy="4399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IN" sz="1800" b="1" dirty="0"/>
                  <a:t>1</a:t>
                </a:r>
                <a:r>
                  <a:rPr lang="en-IN" sz="1800" dirty="0"/>
                  <a:t>.Data Normalization</a:t>
                </a:r>
              </a:p>
              <a:p>
                <a:pPr algn="l"/>
                <a:r>
                  <a:rPr lang="en-US" sz="1800" dirty="0"/>
                  <a:t>Normalize each data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sz="1800" dirty="0"/>
                  <a:t> </a:t>
                </a:r>
                <a:r>
                  <a:rPr lang="en-IN" sz="1800" dirty="0"/>
                  <a:t>∀j=1,2,…,n</a:t>
                </a:r>
                <a:r>
                  <a:rPr lang="en-IN" sz="2000" dirty="0"/>
                  <a:t> </a:t>
                </a:r>
                <a:r>
                  <a:rPr lang="en-US" sz="1800" dirty="0"/>
                  <a:t>in D-dimensional space to lie within a unit hypercube</a:t>
                </a:r>
              </a:p>
              <a:p>
                <a:pPr algn="l"/>
                <a:endParaRPr lang="en-US" sz="180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p>
                            <m:s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e>
                      </m:bar>
                      <m:r>
                        <a:rPr lang="en-IN" b="1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b="1" dirty="0"/>
              </a:p>
              <a:p>
                <a:pPr algn="l"/>
                <a:endParaRPr lang="en-IN" dirty="0"/>
              </a:p>
              <a:p>
                <a:pPr algn="l"/>
                <a:r>
                  <a:rPr lang="en-IN" sz="1800" b="1" dirty="0"/>
                  <a:t>2.</a:t>
                </a:r>
                <a:r>
                  <a:rPr lang="en-IN" sz="1800" dirty="0"/>
                  <a:t> Initial Threshold Calculation</a:t>
                </a:r>
              </a:p>
              <a:p>
                <a:pPr algn="l"/>
                <a:r>
                  <a:rPr lang="en-US" sz="1800" dirty="0"/>
                  <a:t>Compute a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1800" dirty="0"/>
                  <a:t> (neighborhood size) for the m-</a:t>
                </a:r>
                <a:r>
                  <a:rPr lang="en-US" sz="1800" dirty="0" err="1"/>
                  <a:t>th</a:t>
                </a:r>
                <a:r>
                  <a:rPr lang="en-US" sz="1800" dirty="0"/>
                  <a:t> cluster using a heuristic formula involving a scaling factor βm, initially set to 1</a:t>
                </a:r>
              </a:p>
              <a:p>
                <a:pPr algn="l"/>
                <a:endParaRPr lang="en-US" sz="180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IN" b="1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func>
                                        <m:funcPr>
                                          <m:ctrlP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  <m:t>𝐦𝐢𝐧</m:t>
                                          </m:r>
                                          <m:r>
                                            <a:rPr lang="en-IN" b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</m:fName>
                                        <m:e>
                                          <m: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func>
                                      <m:r>
                                        <a:rPr lang="en-IN" b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lang="en-IN" b="1" i="1"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  <m:sup>
                                          <m: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  <m:t>𝒋</m:t>
                                          </m:r>
                                        </m:sup>
                                      </m:sSubSup>
                                    </m:e>
                                  </m:nary>
                                </m:den>
                              </m:f>
                            </m:e>
                          </m:nary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b="1" i="1">
                          <a:latin typeface="Cambria Math" panose="02040503050406030204" pitchFamily="18" charset="0"/>
                        </a:rPr>
                        <m:t>.(</m:t>
                      </m:r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IN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1" dirty="0"/>
              </a:p>
              <a:p>
                <a:pPr algn="l"/>
                <a:endParaRPr lang="en-US" sz="1800" dirty="0"/>
              </a:p>
              <a:p>
                <a:pPr algn="l"/>
                <a:endParaRPr lang="en-IN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089226-D96F-7497-0AEC-0647C9F28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08" y="1222490"/>
                <a:ext cx="10615171" cy="4399538"/>
              </a:xfrm>
              <a:prstGeom prst="rect">
                <a:avLst/>
              </a:prstGeom>
              <a:blipFill>
                <a:blip r:embed="rId3"/>
                <a:stretch>
                  <a:fillRect l="-517" t="-8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DF84FC-FB4E-4C5D-F090-EBA7BFDF0E60}"/>
                  </a:ext>
                </a:extLst>
              </p:cNvPr>
              <p:cNvSpPr txBox="1"/>
              <p:nvPr/>
            </p:nvSpPr>
            <p:spPr>
              <a:xfrm>
                <a:off x="997708" y="5086767"/>
                <a:ext cx="10422132" cy="1433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IN" b="1" dirty="0"/>
                  <a:t>3</a:t>
                </a:r>
                <a:r>
                  <a:rPr lang="en-IN" dirty="0"/>
                  <a:t>. Potential Calculation</a:t>
                </a:r>
              </a:p>
              <a:p>
                <a:pPr algn="l"/>
                <a:r>
                  <a:rPr lang="en-US" dirty="0"/>
                  <a:t>Compute the mountain function (potential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en-US" dirty="0"/>
                  <a:t> ) for each point, reflecting the point’s centrality in the dataset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bSup>
                      <m:r>
                        <a:rPr lang="en-IN" b="1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𝒆𝒙𝒑</m:t>
                          </m:r>
                        </m:e>
                      </m:nary>
                      <m:r>
                        <a:rPr lang="en-IN" b="1" i="1">
                          <a:latin typeface="Cambria Math" panose="02040503050406030204" pitchFamily="18" charset="0"/>
                        </a:rPr>
                        <m:t>[−(</m:t>
                      </m:r>
                      <m:f>
                        <m:f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bar>
                                <m:barPr>
                                  <m:pos m:val="top"/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bar>
                            </m:e>
                            <m:sup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p>
                          </m:sSup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bar>
                                <m:barPr>
                                  <m:pos m:val="top"/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bar>
                            </m:e>
                            <m:sup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  <m:sup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den>
                      </m:f>
                      <m:r>
                        <a:rPr lang="en-IN" b="1" i="1">
                          <a:latin typeface="Cambria Math" panose="02040503050406030204" pitchFamily="18" charset="0"/>
                        </a:rPr>
                        <m:t>))]</m:t>
                      </m:r>
                    </m:oMath>
                  </m:oMathPara>
                </a14:m>
                <a:endParaRPr lang="en-US" sz="18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DF84FC-FB4E-4C5D-F090-EBA7BFDF0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08" y="5086767"/>
                <a:ext cx="10422132" cy="1433854"/>
              </a:xfrm>
              <a:prstGeom prst="rect">
                <a:avLst/>
              </a:prstGeom>
              <a:blipFill>
                <a:blip r:embed="rId4"/>
                <a:stretch>
                  <a:fillRect l="-527" t="-21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1808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31BE03-3516-486E-805F-846181916F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descr="A group of cubes floating in the air">
            <a:extLst>
              <a:ext uri="{FF2B5EF4-FFF2-40B4-BE49-F238E27FC236}">
                <a16:creationId xmlns:a16="http://schemas.microsoft.com/office/drawing/2014/main" id="{50049604-A7AC-881C-07B3-20294760F2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20" b="12420"/>
          <a:stretch>
            <a:fillRect/>
          </a:stretch>
        </p:blipFill>
        <p:spPr>
          <a:xfrm>
            <a:off x="0" y="-972000"/>
            <a:ext cx="12192000" cy="78184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7D5F85-C45B-004C-E630-9E600CE9903F}"/>
                  </a:ext>
                </a:extLst>
              </p:cNvPr>
              <p:cNvSpPr txBox="1"/>
              <p:nvPr/>
            </p:nvSpPr>
            <p:spPr>
              <a:xfrm>
                <a:off x="955077" y="1209802"/>
                <a:ext cx="10271760" cy="2751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IN" sz="1800" b="1" dirty="0"/>
                  <a:t>4</a:t>
                </a:r>
                <a:r>
                  <a:rPr lang="en-IN" sz="1800" dirty="0"/>
                  <a:t>. Cluster </a:t>
                </a:r>
                <a:r>
                  <a:rPr lang="en-IN" sz="1800" dirty="0" err="1"/>
                  <a:t>Center</a:t>
                </a:r>
                <a:r>
                  <a:rPr lang="en-IN" sz="1800" dirty="0"/>
                  <a:t> Selection</a:t>
                </a:r>
              </a:p>
              <a:p>
                <a:pPr algn="l"/>
                <a:r>
                  <a:rPr lang="en-US" sz="1800" dirty="0"/>
                  <a:t>Choose the point with the highest potential as the m-</a:t>
                </a:r>
                <a:r>
                  <a:rPr lang="en-US" sz="1800" dirty="0" err="1"/>
                  <a:t>th</a:t>
                </a:r>
                <a:r>
                  <a:rPr lang="en-US" sz="1800" dirty="0"/>
                  <a:t> cluster center</a:t>
                </a:r>
              </a:p>
              <a:p>
                <a:pPr algn="l"/>
                <a:endParaRPr lang="en-US" sz="1800" dirty="0"/>
              </a:p>
              <a:p>
                <a:pPr>
                  <a:buClr>
                    <a:srgbClr val="30ACEC">
                      <a:lumMod val="75000"/>
                    </a:srgbClr>
                  </a:buCl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8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800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IN" sz="18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IN" sz="1800" b="1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IN" sz="1800" b="1" i="1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IN" sz="18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func>
                            <m:funcPr>
                              <m:ctrlPr>
                                <a:rPr lang="en-IN" sz="18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sSup>
                                    <m:sSupPr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  <m:t>𝒎𝒂𝒙</m:t>
                                      </m:r>
                                    </m:e>
                                    <m:sup>
                                      <m: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p>
                                  </m:sSup>
                                  <m:r>
                                    <a:rPr lang="en-IN" sz="1800" b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  <m:lim>
                                  <m: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IN" sz="1800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func>
                        </m:e>
                        <m:sub>
                          <m:r>
                            <a:rPr lang="en-IN" sz="18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IN" sz="18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bSup>
                      <m:r>
                        <a:rPr lang="en-IN" sz="18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800" b="1" dirty="0"/>
              </a:p>
              <a:p>
                <a:pPr>
                  <a:buClr>
                    <a:srgbClr val="30ACEC">
                      <a:lumMod val="75000"/>
                    </a:srgbClr>
                  </a:buClr>
                  <a:defRPr/>
                </a:pPr>
                <a:endParaRPr lang="en-IN" sz="1800" dirty="0"/>
              </a:p>
              <a:p>
                <a:pPr>
                  <a:buClr>
                    <a:srgbClr val="30ACEC">
                      <a:lumMod val="75000"/>
                    </a:srgbClr>
                  </a:buCl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IN" sz="1800" b="1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IN" sz="1800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</m:bar>
                        </m:e>
                        <m:sub>
                          <m:r>
                            <a:rPr lang="en-IN" sz="18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IN" sz="1800" b="1" i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IN" sz="1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pos m:val="top"/>
                              <m:ctrlPr>
                                <a:rPr lang="en-IN" sz="1800" b="1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IN" sz="1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bar>
                        </m:e>
                        <m:sup>
                          <m:r>
                            <a:rPr lang="en-IN" sz="1800" b="1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IN" sz="1800" b="1" dirty="0"/>
              </a:p>
              <a:p>
                <a:pPr algn="l"/>
                <a:endParaRPr lang="en-US" sz="1800" dirty="0"/>
              </a:p>
              <a:p>
                <a:pPr algn="l"/>
                <a:endParaRPr lang="en-US" sz="1800" dirty="0"/>
              </a:p>
              <a:p>
                <a:pPr algn="l"/>
                <a:endParaRPr lang="en-US" sz="1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7D5F85-C45B-004C-E630-9E600CE99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077" y="1209802"/>
                <a:ext cx="10271760" cy="2751074"/>
              </a:xfrm>
              <a:prstGeom prst="rect">
                <a:avLst/>
              </a:prstGeom>
              <a:blipFill>
                <a:blip r:embed="rId3"/>
                <a:stretch>
                  <a:fillRect l="-534" t="-11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264731-50CE-E893-C69B-DCF5FE5D4EDE}"/>
                  </a:ext>
                </a:extLst>
              </p:cNvPr>
              <p:cNvSpPr txBox="1"/>
              <p:nvPr/>
            </p:nvSpPr>
            <p:spPr>
              <a:xfrm>
                <a:off x="955077" y="3429000"/>
                <a:ext cx="10535883" cy="2769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30ACEC">
                      <a:lumMod val="75000"/>
                    </a:srgbClr>
                  </a:buClr>
                  <a:buSzPct val="145000"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rbel" panose="020B0503020204020204"/>
                    <a:ea typeface="+mn-ea"/>
                    <a:cs typeface="+mn-cs"/>
                  </a:rPr>
                  <a:t>5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rbel" panose="020B0503020204020204"/>
                    <a:ea typeface="+mn-ea"/>
                    <a:cs typeface="+mn-cs"/>
                  </a:rPr>
                  <a:t>.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rbel" panose="020B0503020204020204"/>
                    <a:ea typeface="+mn-ea"/>
                    <a:cs typeface="+mn-cs"/>
                  </a:rPr>
                  <a:t> Cluster Assignment and Reduction</a:t>
                </a:r>
              </a:p>
              <a:p>
                <a:pPr lvl="0">
                  <a:spcBef>
                    <a:spcPct val="20000"/>
                  </a:spcBef>
                  <a:spcAft>
                    <a:spcPts val="600"/>
                  </a:spcAft>
                  <a:buClr>
                    <a:srgbClr val="30ACEC">
                      <a:lumMod val="75000"/>
                    </a:srgbClr>
                  </a:buClr>
                  <a:buSzPct val="145000"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rbel" panose="020B0503020204020204"/>
                    <a:ea typeface="+mn-ea"/>
                    <a:cs typeface="+mn-cs"/>
                  </a:rPr>
                  <a:t>Assign points within the threshold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IN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rbel" panose="020B0503020204020204"/>
                    <a:ea typeface="+mn-ea"/>
                    <a:cs typeface="+mn-cs"/>
                  </a:rPr>
                  <a:t>to the current cluster and remove them from the dataset</a:t>
                </a:r>
              </a:p>
              <a:p>
                <a:pPr lvl="0">
                  <a:spcBef>
                    <a:spcPct val="20000"/>
                  </a:spcBef>
                  <a:spcAft>
                    <a:spcPts val="600"/>
                  </a:spcAft>
                  <a:buClr>
                    <a:srgbClr val="30ACEC">
                      <a:lumMod val="75000"/>
                    </a:srgbClr>
                  </a:buClr>
                  <a:buSzPct val="145000"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  <a:p>
                <a:pPr>
                  <a:spcBef>
                    <a:spcPct val="20000"/>
                  </a:spcBef>
                  <a:spcAft>
                    <a:spcPts val="600"/>
                  </a:spcAft>
                  <a:buClr>
                    <a:srgbClr val="30ACEC">
                      <a:lumMod val="75000"/>
                    </a:srgbClr>
                  </a:buClr>
                  <a:buSzPct val="145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8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IN" sz="1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IN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bar>
                                <m:barPr>
                                  <m:pos m:val="top"/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bar>
                            </m:e>
                            <m:sup>
                              <m:r>
                                <a:rPr lang="en-IN" sz="18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p>
                          </m:sSup>
                          <m:r>
                            <a:rPr lang="en-IN" sz="18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1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IN" sz="18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e>
                      </m:d>
                      <m:r>
                        <a:rPr lang="en-IN" sz="1800" b="1" i="1">
                          <a:latin typeface="Cambria Math" panose="02040503050406030204" pitchFamily="18" charset="0"/>
                        </a:rPr>
                        <m:t> ≤ </m:t>
                      </m:r>
                      <m:sSub>
                        <m:sSubPr>
                          <m:ctrlPr>
                            <a:rPr lang="en-IN" sz="1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b="1" i="1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IN" sz="18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IN" sz="1800" b="1" i="1">
                          <a:latin typeface="Cambria Math" panose="02040503050406030204" pitchFamily="18" charset="0"/>
                        </a:rPr>
                        <m:t> ;∀</m:t>
                      </m:r>
                      <m:r>
                        <a:rPr lang="en-IN" sz="1800" b="1" i="1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IN" sz="1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8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18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18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1800" b="1" i="1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IN" sz="1800" b="1" i="1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IN" sz="1800" b="1" dirty="0"/>
              </a:p>
              <a:p>
                <a:pPr lvl="0">
                  <a:spcBef>
                    <a:spcPct val="20000"/>
                  </a:spcBef>
                  <a:spcAft>
                    <a:spcPts val="600"/>
                  </a:spcAft>
                  <a:buClr>
                    <a:srgbClr val="30ACEC">
                      <a:lumMod val="75000"/>
                    </a:srgbClr>
                  </a:buClr>
                  <a:buSzPct val="145000"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  <a:p>
                <a:pPr lvl="0">
                  <a:spcBef>
                    <a:spcPct val="20000"/>
                  </a:spcBef>
                  <a:spcAft>
                    <a:spcPts val="600"/>
                  </a:spcAft>
                  <a:buClr>
                    <a:srgbClr val="30ACEC">
                      <a:lumMod val="75000"/>
                    </a:srgbClr>
                  </a:buClr>
                  <a:buSzPct val="145000"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264731-50CE-E893-C69B-DCF5FE5D4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077" y="3429000"/>
                <a:ext cx="10535883" cy="2769476"/>
              </a:xfrm>
              <a:prstGeom prst="rect">
                <a:avLst/>
              </a:prstGeom>
              <a:blipFill>
                <a:blip r:embed="rId4"/>
                <a:stretch>
                  <a:fillRect l="-521" t="-13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719BE78-A90A-BF28-6CC3-5A564AE92256}"/>
              </a:ext>
            </a:extLst>
          </p:cNvPr>
          <p:cNvSpPr txBox="1"/>
          <p:nvPr/>
        </p:nvSpPr>
        <p:spPr>
          <a:xfrm>
            <a:off x="955077" y="5365095"/>
            <a:ext cx="102006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6.</a:t>
            </a:r>
            <a:r>
              <a:rPr lang="en-US" b="1" dirty="0"/>
              <a:t> </a:t>
            </a:r>
            <a:r>
              <a:rPr lang="en-US" dirty="0"/>
              <a:t>Repeat for All Clusters </a:t>
            </a:r>
            <a:br>
              <a:rPr lang="en-US" dirty="0"/>
            </a:br>
            <a:r>
              <a:rPr lang="en-US" dirty="0"/>
              <a:t>Repeat</a:t>
            </a:r>
            <a:r>
              <a:rPr lang="en-US" b="1" dirty="0"/>
              <a:t> </a:t>
            </a:r>
            <a:r>
              <a:rPr lang="en-US" dirty="0"/>
              <a:t>Steps 2–5 until M clusters are formed. Assign remaining points to the nearest cluster center.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429E9A-33A1-900B-A874-0F1806D88BC8}"/>
              </a:ext>
            </a:extLst>
          </p:cNvPr>
          <p:cNvSpPr txBox="1"/>
          <p:nvPr/>
        </p:nvSpPr>
        <p:spPr>
          <a:xfrm>
            <a:off x="2618924" y="257302"/>
            <a:ext cx="69440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SOC ALGORITHM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39495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A1A449-95BF-4B01-66B4-FCC8E98D68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A group of cubes floating in the air">
            <a:extLst>
              <a:ext uri="{FF2B5EF4-FFF2-40B4-BE49-F238E27FC236}">
                <a16:creationId xmlns:a16="http://schemas.microsoft.com/office/drawing/2014/main" id="{6F212D70-E4CE-67D8-775C-21AFBA139F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20" b="12420"/>
          <a:stretch>
            <a:fillRect/>
          </a:stretch>
        </p:blipFill>
        <p:spPr>
          <a:xfrm>
            <a:off x="0" y="-972000"/>
            <a:ext cx="12192000" cy="78184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6E3416-8B7E-A363-FB56-65A4A7DACFCD}"/>
                  </a:ext>
                </a:extLst>
              </p:cNvPr>
              <p:cNvSpPr txBox="1"/>
              <p:nvPr/>
            </p:nvSpPr>
            <p:spPr>
              <a:xfrm>
                <a:off x="721359" y="965188"/>
                <a:ext cx="10891521" cy="3092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IN" sz="1800" b="1" dirty="0"/>
                  <a:t>Threshold Optimization via Interpolation</a:t>
                </a:r>
              </a:p>
              <a:p>
                <a:pPr algn="l"/>
                <a:r>
                  <a:rPr lang="en-IN" sz="1800" b="1" dirty="0"/>
                  <a:t>7.</a:t>
                </a:r>
                <a:r>
                  <a:rPr lang="en-IN" sz="1800" dirty="0"/>
                  <a:t> Calculate GSI(global silhouette index)</a:t>
                </a:r>
              </a:p>
              <a:p>
                <a:pPr algn="l"/>
                <a:endParaRPr lang="en-IN" sz="1800" dirty="0"/>
              </a:p>
              <a:p>
                <a:pPr algn="l"/>
                <a:r>
                  <a:rPr lang="en-IN" sz="1800" b="1" dirty="0"/>
                  <a:t>8. </a:t>
                </a:r>
                <a:r>
                  <a:rPr lang="en-IN" sz="1800" dirty="0"/>
                  <a:t>Lagrange interpolation</a:t>
                </a:r>
              </a:p>
              <a:p>
                <a:pPr algn="l"/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IN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1800" dirty="0"/>
                  <a:t>) pairs to estimate silhouette score St as a function of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IN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sup>
                        <m:e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b="1" dirty="0"/>
              </a:p>
              <a:p>
                <a:pPr algn="l"/>
                <a:endParaRPr lang="en-IN" dirty="0"/>
              </a:p>
              <a:p>
                <a:pPr algn="l"/>
                <a:r>
                  <a:rPr lang="en-US" sz="1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1" i="1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IN" sz="1800" b="1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IN" sz="1800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IN" sz="18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1" i="1"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b>
                        <m:r>
                          <a:rPr lang="en-IN" sz="18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sz="1800" b="1" dirty="0"/>
                  <a:t>)</a:t>
                </a:r>
                <a:r>
                  <a:rPr lang="en-US" sz="1800" dirty="0"/>
                  <a:t> is the Lagrange basis polynomial.</a:t>
                </a:r>
              </a:p>
              <a:p>
                <a:pPr algn="l"/>
                <a:endParaRPr lang="en-IN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6E3416-8B7E-A363-FB56-65A4A7DAC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59" y="965188"/>
                <a:ext cx="10891521" cy="3092706"/>
              </a:xfrm>
              <a:prstGeom prst="rect">
                <a:avLst/>
              </a:prstGeom>
              <a:blipFill>
                <a:blip r:embed="rId3"/>
                <a:stretch>
                  <a:fillRect l="-448" t="-9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F93BE1-F3DA-C415-5BD3-DC34BD947B0C}"/>
                  </a:ext>
                </a:extLst>
              </p:cNvPr>
              <p:cNvSpPr txBox="1"/>
              <p:nvPr/>
            </p:nvSpPr>
            <p:spPr>
              <a:xfrm>
                <a:off x="721360" y="4057894"/>
                <a:ext cx="10891520" cy="26486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9.</a:t>
                </a:r>
                <a:r>
                  <a:rPr lang="en-US" dirty="0"/>
                  <a:t> </a:t>
                </a:r>
                <a:r>
                  <a:rPr lang="en-US" sz="2000" dirty="0"/>
                  <a:t>Substitute Sₜ = 1 to find the value </a:t>
                </a:r>
                <a:r>
                  <a:rPr lang="en-US" sz="2000" dirty="0" err="1"/>
                  <a:t>δ</a:t>
                </a:r>
                <a:r>
                  <a:rPr lang="en-US" sz="2000" baseline="-25000" dirty="0" err="1"/>
                  <a:t>t</a:t>
                </a:r>
                <a:r>
                  <a:rPr lang="en-US" sz="2000" dirty="0"/>
                  <a:t> that would yield an ideal silhouette score.</a:t>
                </a:r>
                <a:endPara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Solve the polynomial equation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Select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en-US" altLang="en-US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(η) 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value closest to producing silhouette value </a:t>
                </a:r>
                <a:r>
                  <a:rPr kumimoji="0" lang="en-US" altLang="en-US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1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dirty="0">
                  <a:latin typeface="Arial" panose="020B0604020202020204" pitchFamily="34" charset="0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10.</a:t>
                </a:r>
                <a:r>
                  <a:rPr lang="en-IN" dirty="0"/>
                  <a:t> Update Threshold Scaling Factors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dirty="0"/>
                  <a:t>Recalculate each cluster’s βₘ using: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dirty="0"/>
              </a:p>
              <a:p>
                <a:pPr mar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ₘ = </m:t>
                      </m:r>
                      <m:f>
                        <m:f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𝜼</m:t>
                          </m:r>
                        </m:num>
                        <m:den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den>
                      </m:f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;∀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,……,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F93BE1-F3DA-C415-5BD3-DC34BD947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60" y="4057894"/>
                <a:ext cx="10891520" cy="2648674"/>
              </a:xfrm>
              <a:prstGeom prst="rect">
                <a:avLst/>
              </a:prstGeom>
              <a:blipFill>
                <a:blip r:embed="rId4"/>
                <a:stretch>
                  <a:fillRect l="-448" t="-13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EE24141-C7F2-7BF6-1D6D-6C25093570B3}"/>
              </a:ext>
            </a:extLst>
          </p:cNvPr>
          <p:cNvSpPr txBox="1"/>
          <p:nvPr/>
        </p:nvSpPr>
        <p:spPr>
          <a:xfrm>
            <a:off x="2618924" y="257302"/>
            <a:ext cx="69440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SOC ALGORITHM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79544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F631E-16C1-8286-9B35-91C99F3B4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ainting of a lake with mountains and trees">
            <a:extLst>
              <a:ext uri="{FF2B5EF4-FFF2-40B4-BE49-F238E27FC236}">
                <a16:creationId xmlns:a16="http://schemas.microsoft.com/office/drawing/2014/main" id="{270B723F-B952-B908-E1E6-E1BBEB7695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145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water">
            <a:extLst>
              <a:ext uri="{FF2B5EF4-FFF2-40B4-BE49-F238E27FC236}">
                <a16:creationId xmlns:a16="http://schemas.microsoft.com/office/drawing/2014/main" id="{D028BA83-7BFD-31F0-7B05-AFF4F5872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4926226"/>
            <a:ext cx="12192000" cy="1931773"/>
          </a:xfrm>
          <a:prstGeom prst="rect">
            <a:avLst/>
          </a:prstGeom>
        </p:spPr>
      </p:pic>
      <p:pic>
        <p:nvPicPr>
          <p:cNvPr id="7" name="Picture 6" descr="A painting of a lake with mountains and trees&#10;&#10;AI-generated content may be incorrect.">
            <a:extLst>
              <a:ext uri="{FF2B5EF4-FFF2-40B4-BE49-F238E27FC236}">
                <a16:creationId xmlns:a16="http://schemas.microsoft.com/office/drawing/2014/main" id="{AE46B312-4F97-47F3-0159-C78475DDBD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34520"/>
          <a:stretch/>
        </p:blipFill>
        <p:spPr>
          <a:xfrm>
            <a:off x="0" y="0"/>
            <a:ext cx="12192000" cy="4926225"/>
          </a:xfrm>
          <a:prstGeom prst="rect">
            <a:avLst/>
          </a:prstGeom>
          <a:effectLst>
            <a:reflection blurRad="6350" stA="30000" endPos="57000" dist="139700" dir="5400000" sy="-100000" algn="bl" rotWithShape="0"/>
          </a:effec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Row Boat">
                <a:extLst>
                  <a:ext uri="{FF2B5EF4-FFF2-40B4-BE49-F238E27FC236}">
                    <a16:creationId xmlns:a16="http://schemas.microsoft.com/office/drawing/2014/main" id="{2C693065-5836-F4D3-6CB7-65651C6C3AC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917673" y="4967973"/>
              <a:ext cx="1127440" cy="38844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127440" cy="38844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glow>
                        <a:schemeClr val="accent1"/>
                      </a:glow>
                      <a:outerShdw blurRad="50800" dir="5400000" sx="79000" sy="79000" algn="t" rotWithShape="0">
                        <a:prstClr val="black">
                          <a:alpha val="0"/>
                        </a:prstClr>
                      </a:outerShdw>
                      <a:reflection stA="82000" dir="5400000" sy="-100000" algn="bl" rotWithShape="0"/>
                      <a:softEdge rad="25400"/>
                    </a:effectLst>
                    <a:scene3d>
                      <a:camera prst="orthographicFront"/>
                      <a:lightRig rig="flood" dir="t"/>
                    </a:scene3d>
                    <a:sp3d z="-95250" extrusionH="76200">
                      <a:extrusionClr>
                        <a:srgbClr val="222531"/>
                      </a:extrusionClr>
                    </a:sp3d>
                  </am3d:spPr>
                  <am3d:camera>
                    <am3d:pos x="0" y="0" z="6736780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50578" d="1000000"/>
                    <am3d:preTrans dx="0" dy="-5157511" dz="-655980"/>
                    <am3d:scale>
                      <am3d:sx n="1000000" d="1000000"/>
                      <am3d:sy n="1000000" d="1000000"/>
                      <am3d:sz n="1000000" d="1000000"/>
                    </am3d:scale>
                    <am3d:rot ax="133689" ay="4982798" az="13271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5443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Row Boat">
                <a:extLst>
                  <a:ext uri="{FF2B5EF4-FFF2-40B4-BE49-F238E27FC236}">
                    <a16:creationId xmlns:a16="http://schemas.microsoft.com/office/drawing/2014/main" id="{2C693065-5836-F4D3-6CB7-65651C6C3A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17673" y="4967973"/>
                <a:ext cx="1127440" cy="388446"/>
              </a:xfrm>
              <a:prstGeom prst="rect">
                <a:avLst/>
              </a:prstGeom>
              <a:noFill/>
              <a:ln>
                <a:noFill/>
              </a:ln>
              <a:effectLst>
                <a:glow>
                  <a:schemeClr val="accent1"/>
                </a:glow>
                <a:outerShdw blurRad="50800" dir="5400000" sx="79000" sy="79000" algn="t" rotWithShape="0">
                  <a:prstClr val="black">
                    <a:alpha val="0"/>
                  </a:prstClr>
                </a:outerShdw>
                <a:reflection stA="82000" dir="5400000" sy="-100000" algn="bl" rotWithShape="0"/>
                <a:softEdge rad="25400"/>
              </a:effectLst>
              <a:scene3d>
                <a:camera prst="orthographicFront"/>
                <a:lightRig rig="flood" dir="t"/>
              </a:scene3d>
              <a:sp3d z="-95250" extrusionH="76200">
                <a:extrusionClr>
                  <a:srgbClr val="222531"/>
                </a:extrusion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0" name="Section Zoom 19">
                <a:extLst>
                  <a:ext uri="{FF2B5EF4-FFF2-40B4-BE49-F238E27FC236}">
                    <a16:creationId xmlns:a16="http://schemas.microsoft.com/office/drawing/2014/main" id="{7B344992-5445-EAF7-7DF1-1620DBA783AF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375797" y="3722370"/>
              <a:ext cx="1611630" cy="906542"/>
            </p:xfrm>
            <a:graphic>
              <a:graphicData uri="http://schemas.microsoft.com/office/powerpoint/2016/sectionzoom">
                <psez:sectionZm>
                  <psez:sectionZmObj sectionId="{D16973A3-EDB5-48E2-B9AF-9050E319D977}">
                    <psez:zmPr id="{4AC8DD4F-1764-4E96-86BF-8AC0B4EBBCAC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1630" cy="906542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0" name="Section Zoom 19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7B344992-5445-EAF7-7DF1-1620DBA783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5797" y="3722370"/>
                <a:ext cx="1611630" cy="906542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2" name="Section Zoom 21">
                <a:extLst>
                  <a:ext uri="{FF2B5EF4-FFF2-40B4-BE49-F238E27FC236}">
                    <a16:creationId xmlns:a16="http://schemas.microsoft.com/office/drawing/2014/main" id="{9C25028B-2A1C-0096-8F82-6443ED8AB964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1782430" y="372364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4FD5D4E6-F7C3-4914-9318-ED19C1E6FF14}">
                    <psez:zmPr id="{7B59E664-5E19-4CAE-BE00-1984AB46BA51}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2" name="Section Zoom 21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9C25028B-2A1C-0096-8F82-6443ED8AB96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82430" y="372364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4" name="Section Zoom 23">
                <a:extLst>
                  <a:ext uri="{FF2B5EF4-FFF2-40B4-BE49-F238E27FC236}">
                    <a16:creationId xmlns:a16="http://schemas.microsoft.com/office/drawing/2014/main" id="{3985DC90-5635-CC2A-8764-D8734446A501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3171760" y="372237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0433E9D2-1814-48AD-9DC9-6C369C7905A5}">
                    <psez:zmPr id="{FF7D271A-69A7-4402-B1DC-D9EFA7C49681}" transitionDur="1000" showBg="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4" name="Section Zoom 23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3985DC90-5635-CC2A-8764-D8734446A5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71760" y="372237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DF5D504-4CEF-E339-B08A-962AA9D348E3}"/>
              </a:ext>
            </a:extLst>
          </p:cNvPr>
          <p:cNvGrpSpPr/>
          <p:nvPr/>
        </p:nvGrpSpPr>
        <p:grpSpPr>
          <a:xfrm>
            <a:off x="1819720" y="94425"/>
            <a:ext cx="10277351" cy="1456583"/>
            <a:chOff x="789577" y="129149"/>
            <a:chExt cx="10277351" cy="1456583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1" name="3D Model 30" descr="Cloud">
                  <a:extLst>
                    <a:ext uri="{FF2B5EF4-FFF2-40B4-BE49-F238E27FC236}">
                      <a16:creationId xmlns:a16="http://schemas.microsoft.com/office/drawing/2014/main" id="{6594A0FC-D89D-454C-C41D-35AAF1A9C98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41723562"/>
                    </p:ext>
                  </p:extLst>
                </p:nvPr>
              </p:nvGraphicFramePr>
              <p:xfrm>
                <a:off x="9670930" y="183163"/>
                <a:ext cx="1395998" cy="876300"/>
              </p:xfrm>
              <a:graphic>
                <a:graphicData uri="http://schemas.microsoft.com/office/drawing/2017/model3d">
                  <am3d:model3d r:embed="rId15">
                    <am3d:spPr>
                      <a:xfrm>
                        <a:off x="0" y="0"/>
                        <a:ext cx="1395998" cy="876300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6"/>
                    </am3d:raster>
                    <am3d:objViewport viewportSz="1870827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1" name="3D Model 30" descr="Cloud">
                  <a:extLst>
                    <a:ext uri="{FF2B5EF4-FFF2-40B4-BE49-F238E27FC236}">
                      <a16:creationId xmlns:a16="http://schemas.microsoft.com/office/drawing/2014/main" id="{6594A0FC-D89D-454C-C41D-35AAF1A9C98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701073" y="148439"/>
                  <a:ext cx="1395998" cy="876300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2" name="3D Model 31" descr="Cloud">
                  <a:extLst>
                    <a:ext uri="{FF2B5EF4-FFF2-40B4-BE49-F238E27FC236}">
                      <a16:creationId xmlns:a16="http://schemas.microsoft.com/office/drawing/2014/main" id="{0491F510-354E-07B2-93E2-AE5A747FFE6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95238224"/>
                    </p:ext>
                  </p:extLst>
                </p:nvPr>
              </p:nvGraphicFramePr>
              <p:xfrm>
                <a:off x="9036253" y="543908"/>
                <a:ext cx="1659688" cy="1041824"/>
              </p:xfrm>
              <a:graphic>
                <a:graphicData uri="http://schemas.microsoft.com/office/drawing/2017/model3d">
                  <am3d:model3d r:embed="rId15">
                    <am3d:spPr>
                      <a:xfrm>
                        <a:off x="0" y="0"/>
                        <a:ext cx="1659688" cy="1041824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7"/>
                    </am3d:raster>
                    <am3d:objViewport viewportSz="2224208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2" name="3D Model 31" descr="Cloud">
                  <a:extLst>
                    <a:ext uri="{FF2B5EF4-FFF2-40B4-BE49-F238E27FC236}">
                      <a16:creationId xmlns:a16="http://schemas.microsoft.com/office/drawing/2014/main" id="{0491F510-354E-07B2-93E2-AE5A747FFE6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66396" y="509184"/>
                  <a:ext cx="1659688" cy="1041824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3" name="3D Model 32" descr="Cloud">
                  <a:extLst>
                    <a:ext uri="{FF2B5EF4-FFF2-40B4-BE49-F238E27FC236}">
                      <a16:creationId xmlns:a16="http://schemas.microsoft.com/office/drawing/2014/main" id="{7A95C465-9690-AC2F-C6A1-BE4DE4D536E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89969817"/>
                    </p:ext>
                  </p:extLst>
                </p:nvPr>
              </p:nvGraphicFramePr>
              <p:xfrm>
                <a:off x="7498748" y="129149"/>
                <a:ext cx="1008643" cy="633148"/>
              </p:xfrm>
              <a:graphic>
                <a:graphicData uri="http://schemas.microsoft.com/office/drawing/2017/model3d">
                  <am3d:model3d r:embed="rId15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8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3" name="3D Model 32" descr="Cloud">
                  <a:extLst>
                    <a:ext uri="{FF2B5EF4-FFF2-40B4-BE49-F238E27FC236}">
                      <a16:creationId xmlns:a16="http://schemas.microsoft.com/office/drawing/2014/main" id="{7A95C465-9690-AC2F-C6A1-BE4DE4D536E5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28891" y="94425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4" name="3D Model 33" descr="Cloud">
                  <a:extLst>
                    <a:ext uri="{FF2B5EF4-FFF2-40B4-BE49-F238E27FC236}">
                      <a16:creationId xmlns:a16="http://schemas.microsoft.com/office/drawing/2014/main" id="{BD1710E3-6D2F-4861-6A06-6231C76CD57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09865708"/>
                    </p:ext>
                  </p:extLst>
                </p:nvPr>
              </p:nvGraphicFramePr>
              <p:xfrm>
                <a:off x="2940250" y="871860"/>
                <a:ext cx="1008643" cy="633148"/>
              </p:xfrm>
              <a:graphic>
                <a:graphicData uri="http://schemas.microsoft.com/office/drawing/2017/model3d">
                  <am3d:model3d r:embed="rId15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noFill/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8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4" name="3D Model 33" descr="Cloud">
                  <a:extLst>
                    <a:ext uri="{FF2B5EF4-FFF2-40B4-BE49-F238E27FC236}">
                      <a16:creationId xmlns:a16="http://schemas.microsoft.com/office/drawing/2014/main" id="{BD1710E3-6D2F-4861-6A06-6231C76CD57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970393" y="837136"/>
                  <a:ext cx="1008643" cy="633148"/>
                </a:xfrm>
                <a:prstGeom prst="rect">
                  <a:avLst/>
                </a:prstGeom>
                <a:noFill/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5" name="3D Model 34" descr="Cloud">
                  <a:extLst>
                    <a:ext uri="{FF2B5EF4-FFF2-40B4-BE49-F238E27FC236}">
                      <a16:creationId xmlns:a16="http://schemas.microsoft.com/office/drawing/2014/main" id="{52B2D4E0-601E-79A6-57EF-C0A6439824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48877600"/>
                    </p:ext>
                  </p:extLst>
                </p:nvPr>
              </p:nvGraphicFramePr>
              <p:xfrm>
                <a:off x="789577" y="426315"/>
                <a:ext cx="1008643" cy="633148"/>
              </p:xfrm>
              <a:graphic>
                <a:graphicData uri="http://schemas.microsoft.com/office/drawing/2017/model3d">
                  <am3d:model3d r:embed="rId15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8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5" name="3D Model 34" descr="Cloud">
                  <a:extLst>
                    <a:ext uri="{FF2B5EF4-FFF2-40B4-BE49-F238E27FC236}">
                      <a16:creationId xmlns:a16="http://schemas.microsoft.com/office/drawing/2014/main" id="{52B2D4E0-601E-79A6-57EF-C0A643982408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19720" y="391591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7BC818F-723B-E54B-9DCB-DEAE439D37D6}"/>
              </a:ext>
            </a:extLst>
          </p:cNvPr>
          <p:cNvSpPr txBox="1"/>
          <p:nvPr/>
        </p:nvSpPr>
        <p:spPr>
          <a:xfrm>
            <a:off x="1685183" y="1732268"/>
            <a:ext cx="901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Self-Optimal Clustering Technique Using Optimized Threshold Function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120620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167 0.00463 L 0.35743 0.00463 " pathEditMode="relative" ptsTypes="AA">
                                      <p:cBhvr>
                                        <p:cTn id="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59259E-6 L -0.07981 2.59259E-6 " pathEditMode="relative" rAng="0" ptsTypes="AA">
                                      <p:cBhvr>
                                        <p:cTn id="14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4278FE-3827-3CD3-4D12-74C3A08B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80772FA-9A8B-BCAE-C313-312BD60C0AA8}"/>
              </a:ext>
            </a:extLst>
          </p:cNvPr>
          <p:cNvGrpSpPr/>
          <p:nvPr/>
        </p:nvGrpSpPr>
        <p:grpSpPr>
          <a:xfrm>
            <a:off x="2779551" y="185420"/>
            <a:ext cx="6697980" cy="6487160"/>
            <a:chOff x="2747010" y="185420"/>
            <a:chExt cx="6697980" cy="6487160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9BFD7A93-DA45-4E79-CCD4-B61618E1E834}"/>
                </a:ext>
              </a:extLst>
            </p:cNvPr>
            <p:cNvSpPr/>
            <p:nvPr/>
          </p:nvSpPr>
          <p:spPr>
            <a:xfrm>
              <a:off x="2747010" y="185420"/>
              <a:ext cx="6697980" cy="6487160"/>
            </a:xfrm>
            <a:prstGeom prst="flowChartConnector">
              <a:avLst/>
            </a:prstGeom>
            <a:solidFill>
              <a:srgbClr val="989292">
                <a:alpha val="40000"/>
              </a:srgbClr>
            </a:solidFill>
            <a:ln w="152400">
              <a:solidFill>
                <a:srgbClr val="00B05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BB6582B-71F4-1C2F-F672-CEACA9A36D84}"/>
                </a:ext>
              </a:extLst>
            </p:cNvPr>
            <p:cNvSpPr txBox="1"/>
            <p:nvPr/>
          </p:nvSpPr>
          <p:spPr>
            <a:xfrm>
              <a:off x="3381992" y="3678535"/>
              <a:ext cx="5347504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CF9B3C5-BB8C-372F-021A-9255ED000D4C}"/>
                </a:ext>
              </a:extLst>
            </p:cNvPr>
            <p:cNvSpPr txBox="1"/>
            <p:nvPr/>
          </p:nvSpPr>
          <p:spPr>
            <a:xfrm>
              <a:off x="2966046" y="2117636"/>
              <a:ext cx="625990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6600" b="1" dirty="0">
                  <a:solidFill>
                    <a:srgbClr val="FFFFFF"/>
                  </a:solidFill>
                </a:rPr>
                <a:t>Measures of Cluster Quality </a:t>
              </a:r>
              <a:endPara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603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3495A-5AC5-3E4C-B40A-19382742A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6FF533C-E329-1D0A-CEAA-FBA9BFCD93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A group of cubes floating in the air">
            <a:extLst>
              <a:ext uri="{FF2B5EF4-FFF2-40B4-BE49-F238E27FC236}">
                <a16:creationId xmlns:a16="http://schemas.microsoft.com/office/drawing/2014/main" id="{0A298AA6-80AB-BF82-188B-AC67E204A3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20" b="12420"/>
          <a:stretch>
            <a:fillRect/>
          </a:stretch>
        </p:blipFill>
        <p:spPr>
          <a:xfrm>
            <a:off x="0" y="-972000"/>
            <a:ext cx="12192000" cy="78184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15D49B-B997-86A9-9495-85FBF303163D}"/>
              </a:ext>
            </a:extLst>
          </p:cNvPr>
          <p:cNvGrpSpPr/>
          <p:nvPr/>
        </p:nvGrpSpPr>
        <p:grpSpPr>
          <a:xfrm>
            <a:off x="-1620964" y="-4076588"/>
            <a:ext cx="15499010" cy="15011176"/>
            <a:chOff x="-1653505" y="-4076588"/>
            <a:chExt cx="15499010" cy="15011176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3CACEEB5-DE13-6732-19D7-2B87CD37CDC3}"/>
                </a:ext>
              </a:extLst>
            </p:cNvPr>
            <p:cNvSpPr/>
            <p:nvPr/>
          </p:nvSpPr>
          <p:spPr>
            <a:xfrm>
              <a:off x="-1653505" y="-4076588"/>
              <a:ext cx="15499010" cy="15011176"/>
            </a:xfrm>
            <a:prstGeom prst="flowChartConnector">
              <a:avLst/>
            </a:prstGeom>
            <a:noFill/>
            <a:ln w="152400">
              <a:solidFill>
                <a:srgbClr val="00B05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3419F3D-68B8-3FEB-66A2-6538F664E8E1}"/>
                </a:ext>
              </a:extLst>
            </p:cNvPr>
            <p:cNvSpPr txBox="1"/>
            <p:nvPr/>
          </p:nvSpPr>
          <p:spPr>
            <a:xfrm>
              <a:off x="2230541" y="191826"/>
              <a:ext cx="774896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4400" dirty="0">
                  <a:latin typeface="Calibri"/>
                  <a:ea typeface="+mj-ea"/>
                  <a:cs typeface="+mj-cs"/>
                </a:rPr>
                <a:t>Measure of Cluster Quality</a:t>
              </a:r>
              <a:endParaRPr kumimoji="0" lang="en-IN" sz="4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6E721AE-F577-EDF8-0D22-B85F2F1AF113}"/>
              </a:ext>
            </a:extLst>
          </p:cNvPr>
          <p:cNvSpPr txBox="1"/>
          <p:nvPr/>
        </p:nvSpPr>
        <p:spPr>
          <a:xfrm>
            <a:off x="845271" y="1570415"/>
            <a:ext cx="105014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800" b="1" dirty="0"/>
          </a:p>
          <a:p>
            <a:pPr algn="l"/>
            <a:r>
              <a:rPr lang="en-US" sz="1800" dirty="0"/>
              <a:t>For better quality of clustering, </a:t>
            </a:r>
            <a:r>
              <a:rPr lang="en-US" sz="1800" dirty="0" err="1"/>
              <a:t>intercluster</a:t>
            </a:r>
            <a:r>
              <a:rPr lang="en-US" sz="1800" dirty="0"/>
              <a:t> distances should be as high as possible, and </a:t>
            </a:r>
            <a:r>
              <a:rPr lang="en-US" sz="1800" dirty="0" err="1"/>
              <a:t>intracluster</a:t>
            </a:r>
            <a:r>
              <a:rPr lang="en-US" sz="1800" dirty="0"/>
              <a:t> distances among data points forming clusters should be as low as possible</a:t>
            </a:r>
          </a:p>
          <a:p>
            <a:pPr algn="l"/>
            <a:endParaRPr lang="en-US" dirty="0"/>
          </a:p>
          <a:p>
            <a:pPr algn="l"/>
            <a:endParaRPr lang="en-US" sz="1800" dirty="0"/>
          </a:p>
          <a:p>
            <a:pPr marL="457200" indent="-457200" algn="ctr">
              <a:buAutoNum type="arabicPeriod"/>
            </a:pPr>
            <a:r>
              <a:rPr lang="en-IN" sz="1800" b="1" dirty="0"/>
              <a:t>Silhouette Index (SI)-</a:t>
            </a:r>
          </a:p>
          <a:p>
            <a:pPr marL="457200" indent="-457200" algn="ctr">
              <a:buAutoNum type="arabicPeriod"/>
            </a:pPr>
            <a:endParaRPr lang="en-IN" sz="1800" b="1" dirty="0"/>
          </a:p>
          <a:p>
            <a:pPr algn="l"/>
            <a:r>
              <a:rPr lang="en-US" sz="1800" dirty="0"/>
              <a:t>Measures how similar a point is to its own cluster vs. other clusters.</a:t>
            </a:r>
          </a:p>
          <a:p>
            <a:pPr algn="l"/>
            <a:r>
              <a:rPr lang="en-US" sz="1800" dirty="0"/>
              <a:t>Ranges from -1 to 1.</a:t>
            </a:r>
          </a:p>
          <a:p>
            <a:pPr algn="l"/>
            <a:r>
              <a:rPr lang="en-US" sz="1800" dirty="0"/>
              <a:t>Close to 1: Good clustering.</a:t>
            </a:r>
          </a:p>
          <a:p>
            <a:pPr algn="l"/>
            <a:r>
              <a:rPr lang="en-US" sz="1800" dirty="0"/>
              <a:t>Around 0: Overlapping clusters.</a:t>
            </a:r>
          </a:p>
          <a:p>
            <a:pPr algn="l"/>
            <a:r>
              <a:rPr lang="en-US" sz="1800" dirty="0"/>
              <a:t>Negative: Likely wrong clustering.</a:t>
            </a:r>
          </a:p>
          <a:p>
            <a:pPr algn="l"/>
            <a:r>
              <a:rPr lang="en-US" sz="1800" dirty="0"/>
              <a:t>SOC showed higher average silhouette scores compared to K-means, FCM, EM, etc.</a:t>
            </a:r>
            <a:endParaRPr lang="en-IN" sz="1800" dirty="0"/>
          </a:p>
          <a:p>
            <a:pPr algn="l"/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3586015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498C9D1-80D1-0C32-4884-45E0687E3C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 descr="A group of cubes floating in the air">
            <a:extLst>
              <a:ext uri="{FF2B5EF4-FFF2-40B4-BE49-F238E27FC236}">
                <a16:creationId xmlns:a16="http://schemas.microsoft.com/office/drawing/2014/main" id="{CC9CF352-1F65-EDFF-4F2A-95A4E59DDB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20" b="12420"/>
          <a:stretch>
            <a:fillRect/>
          </a:stretch>
        </p:blipFill>
        <p:spPr>
          <a:xfrm>
            <a:off x="0" y="-972000"/>
            <a:ext cx="12192000" cy="78184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5775C1-B116-9E2A-DFDA-6DAEE3B4AFCF}"/>
              </a:ext>
            </a:extLst>
          </p:cNvPr>
          <p:cNvSpPr txBox="1"/>
          <p:nvPr/>
        </p:nvSpPr>
        <p:spPr>
          <a:xfrm>
            <a:off x="759571" y="1788689"/>
            <a:ext cx="10755983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.</a:t>
            </a:r>
            <a:r>
              <a:rPr lang="en-US" sz="2000" b="1" dirty="0"/>
              <a:t>2.Separation Index</a:t>
            </a:r>
          </a:p>
          <a:p>
            <a:pPr algn="l"/>
            <a:endParaRPr lang="en-US" sz="2000" b="1" dirty="0"/>
          </a:p>
          <a:p>
            <a:pPr algn="l"/>
            <a:r>
              <a:rPr lang="en-US" dirty="0"/>
              <a:t>Direct measure of how distinct the clusters are from each other.</a:t>
            </a:r>
          </a:p>
          <a:p>
            <a:pPr algn="l"/>
            <a:r>
              <a:rPr lang="en-US" dirty="0"/>
              <a:t>Emphasizes inter-cluster distance.</a:t>
            </a:r>
          </a:p>
          <a:p>
            <a:pPr algn="l"/>
            <a:r>
              <a:rPr lang="en-US" dirty="0"/>
              <a:t>Lower values again demonstrated SOC’s effectiveness.</a:t>
            </a:r>
          </a:p>
          <a:p>
            <a:pPr algn="l"/>
            <a:endParaRPr lang="en-US" dirty="0"/>
          </a:p>
          <a:p>
            <a:pPr algn="ctr"/>
            <a:r>
              <a:rPr lang="en-US" sz="2000" b="1" dirty="0"/>
              <a:t>3.Partition Index</a:t>
            </a:r>
          </a:p>
          <a:p>
            <a:pPr algn="l"/>
            <a:endParaRPr lang="en-US" sz="2000" b="1" dirty="0"/>
          </a:p>
          <a:p>
            <a:pPr algn="l"/>
            <a:r>
              <a:rPr lang="en-US" dirty="0"/>
              <a:t>Common in fuzzy clustering to evaluate fuzziness or clarity of cluster membership.</a:t>
            </a:r>
          </a:p>
          <a:p>
            <a:pPr algn="l"/>
            <a:r>
              <a:rPr lang="en-US" dirty="0"/>
              <a:t>It is ratio of compactness and separation of clusters. Lower PI indicates better clustering.</a:t>
            </a:r>
          </a:p>
          <a:p>
            <a:pPr algn="l"/>
            <a:r>
              <a:rPr lang="en-US" dirty="0"/>
              <a:t>SOC (even though not fuzzy) achieved well-defined partitions, reducing ambiguity in assignments.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34A5C2-9434-DF2D-A854-F6C1F0326059}"/>
              </a:ext>
            </a:extLst>
          </p:cNvPr>
          <p:cNvSpPr txBox="1"/>
          <p:nvPr/>
        </p:nvSpPr>
        <p:spPr>
          <a:xfrm>
            <a:off x="2263082" y="191826"/>
            <a:ext cx="77489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dirty="0">
                <a:latin typeface="Calibri"/>
                <a:ea typeface="+mj-ea"/>
                <a:cs typeface="+mj-cs"/>
              </a:rPr>
              <a:t>Measure of Cluster Quality</a:t>
            </a:r>
            <a:endParaRPr kumimoji="0" lang="en-IN" sz="4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1945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B0EBF-4A4E-6BB6-4694-B959DE46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ainting of a lake with mountains and trees">
            <a:extLst>
              <a:ext uri="{FF2B5EF4-FFF2-40B4-BE49-F238E27FC236}">
                <a16:creationId xmlns:a16="http://schemas.microsoft.com/office/drawing/2014/main" id="{64AEF253-BBF6-F098-00C2-4C55040B5F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145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water">
            <a:extLst>
              <a:ext uri="{FF2B5EF4-FFF2-40B4-BE49-F238E27FC236}">
                <a16:creationId xmlns:a16="http://schemas.microsoft.com/office/drawing/2014/main" id="{ED70CF6B-3504-15D2-7E75-4A42B51F1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4926226"/>
            <a:ext cx="12192000" cy="1931773"/>
          </a:xfrm>
          <a:prstGeom prst="rect">
            <a:avLst/>
          </a:prstGeom>
        </p:spPr>
      </p:pic>
      <p:pic>
        <p:nvPicPr>
          <p:cNvPr id="7" name="Picture 6" descr="A painting of a lake with mountains and trees&#10;&#10;AI-generated content may be incorrect.">
            <a:extLst>
              <a:ext uri="{FF2B5EF4-FFF2-40B4-BE49-F238E27FC236}">
                <a16:creationId xmlns:a16="http://schemas.microsoft.com/office/drawing/2014/main" id="{D7D08559-8593-CD2E-138E-1758A36A06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34520"/>
          <a:stretch/>
        </p:blipFill>
        <p:spPr>
          <a:xfrm>
            <a:off x="0" y="0"/>
            <a:ext cx="12192000" cy="4926225"/>
          </a:xfrm>
          <a:prstGeom prst="rect">
            <a:avLst/>
          </a:prstGeom>
          <a:effectLst>
            <a:reflection blurRad="6350" stA="30000" endPos="57000" dist="139700" dir="5400000" sy="-100000" algn="bl" rotWithShape="0"/>
          </a:effec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Row Boat">
                <a:extLst>
                  <a:ext uri="{FF2B5EF4-FFF2-40B4-BE49-F238E27FC236}">
                    <a16:creationId xmlns:a16="http://schemas.microsoft.com/office/drawing/2014/main" id="{CFDC3BD9-4841-1150-AECF-B8CB944902D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917673" y="4967973"/>
              <a:ext cx="1127440" cy="38844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127440" cy="38844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glow>
                        <a:schemeClr val="accent1"/>
                      </a:glow>
                      <a:outerShdw blurRad="50800" dir="5400000" sx="79000" sy="79000" algn="t" rotWithShape="0">
                        <a:prstClr val="black">
                          <a:alpha val="0"/>
                        </a:prstClr>
                      </a:outerShdw>
                      <a:reflection stA="82000" dir="5400000" sy="-100000" algn="bl" rotWithShape="0"/>
                      <a:softEdge rad="25400"/>
                    </a:effectLst>
                    <a:scene3d>
                      <a:camera prst="orthographicFront"/>
                      <a:lightRig rig="flood" dir="t"/>
                    </a:scene3d>
                    <a:sp3d z="-95250" extrusionH="76200">
                      <a:extrusionClr>
                        <a:srgbClr val="222531"/>
                      </a:extrusionClr>
                    </a:sp3d>
                  </am3d:spPr>
                  <am3d:camera>
                    <am3d:pos x="0" y="0" z="6736780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50578" d="1000000"/>
                    <am3d:preTrans dx="0" dy="-5157511" dz="-655980"/>
                    <am3d:scale>
                      <am3d:sx n="1000000" d="1000000"/>
                      <am3d:sy n="1000000" d="1000000"/>
                      <am3d:sz n="1000000" d="1000000"/>
                    </am3d:scale>
                    <am3d:rot ax="133689" ay="4982798" az="13271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5443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Row Boat">
                <a:extLst>
                  <a:ext uri="{FF2B5EF4-FFF2-40B4-BE49-F238E27FC236}">
                    <a16:creationId xmlns:a16="http://schemas.microsoft.com/office/drawing/2014/main" id="{CFDC3BD9-4841-1150-AECF-B8CB944902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17673" y="4967973"/>
                <a:ext cx="1127440" cy="388446"/>
              </a:xfrm>
              <a:prstGeom prst="rect">
                <a:avLst/>
              </a:prstGeom>
              <a:noFill/>
              <a:ln>
                <a:noFill/>
              </a:ln>
              <a:effectLst>
                <a:glow>
                  <a:schemeClr val="accent1"/>
                </a:glow>
                <a:outerShdw blurRad="50800" dir="5400000" sx="79000" sy="79000" algn="t" rotWithShape="0">
                  <a:prstClr val="black">
                    <a:alpha val="0"/>
                  </a:prstClr>
                </a:outerShdw>
                <a:reflection stA="82000" dir="5400000" sy="-100000" algn="bl" rotWithShape="0"/>
                <a:softEdge rad="25400"/>
              </a:effectLst>
              <a:scene3d>
                <a:camera prst="orthographicFront"/>
                <a:lightRig rig="flood" dir="t"/>
              </a:scene3d>
              <a:sp3d z="-95250" extrusionH="76200">
                <a:extrusionClr>
                  <a:srgbClr val="222531"/>
                </a:extrusion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0" name="Section Zoom 19">
                <a:extLst>
                  <a:ext uri="{FF2B5EF4-FFF2-40B4-BE49-F238E27FC236}">
                    <a16:creationId xmlns:a16="http://schemas.microsoft.com/office/drawing/2014/main" id="{68718118-F002-67E8-5EF1-80C6B33C2374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375797" y="3722370"/>
              <a:ext cx="1611630" cy="906542"/>
            </p:xfrm>
            <a:graphic>
              <a:graphicData uri="http://schemas.microsoft.com/office/powerpoint/2016/sectionzoom">
                <psez:sectionZm>
                  <psez:sectionZmObj sectionId="{D16973A3-EDB5-48E2-B9AF-9050E319D977}">
                    <psez:zmPr id="{4AC8DD4F-1764-4E96-86BF-8AC0B4EBBCAC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1630" cy="906542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0" name="Section Zoom 19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68718118-F002-67E8-5EF1-80C6B33C237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5797" y="3722370"/>
                <a:ext cx="1611630" cy="906542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2" name="Section Zoom 21">
                <a:extLst>
                  <a:ext uri="{FF2B5EF4-FFF2-40B4-BE49-F238E27FC236}">
                    <a16:creationId xmlns:a16="http://schemas.microsoft.com/office/drawing/2014/main" id="{D30B058D-9838-F06A-EC74-595F0512192C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1782430" y="372364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4FD5D4E6-F7C3-4914-9318-ED19C1E6FF14}">
                    <psez:zmPr id="{7B59E664-5E19-4CAE-BE00-1984AB46BA51}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2" name="Section Zoom 21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D30B058D-9838-F06A-EC74-595F051219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82430" y="372364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4" name="Section Zoom 23">
                <a:extLst>
                  <a:ext uri="{FF2B5EF4-FFF2-40B4-BE49-F238E27FC236}">
                    <a16:creationId xmlns:a16="http://schemas.microsoft.com/office/drawing/2014/main" id="{0CCAE781-516C-2F4A-455E-3E9D810C9A79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3171760" y="372237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0433E9D2-1814-48AD-9DC9-6C369C7905A5}">
                    <psez:zmPr id="{FF7D271A-69A7-4402-B1DC-D9EFA7C49681}" transitionDur="1000" showBg="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4" name="Section Zoom 23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0CCAE781-516C-2F4A-455E-3E9D810C9A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71760" y="372237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6" name="Section Zoom 25">
                <a:extLst>
                  <a:ext uri="{FF2B5EF4-FFF2-40B4-BE49-F238E27FC236}">
                    <a16:creationId xmlns:a16="http://schemas.microsoft.com/office/drawing/2014/main" id="{BDA85CDA-B603-5715-166F-0FFD1457DA3D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4633406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D1794EA3-E97F-47F1-9BA2-C666310B0362}">
                    <psez:zmPr id="{A82EA7F5-AC32-44E6-A150-CF5FA37D8A45}" transitionDur="1000" showBg="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6" name="Section Zoom 25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BDA85CDA-B603-5715-166F-0FFD1457DA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33406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412FEDA2-3C68-5D3C-42F2-E0268C3F9663}"/>
              </a:ext>
            </a:extLst>
          </p:cNvPr>
          <p:cNvGrpSpPr/>
          <p:nvPr/>
        </p:nvGrpSpPr>
        <p:grpSpPr>
          <a:xfrm>
            <a:off x="1819720" y="94425"/>
            <a:ext cx="10277351" cy="1456583"/>
            <a:chOff x="789577" y="129149"/>
            <a:chExt cx="10277351" cy="1456583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2" name="3D Model 31" descr="Cloud">
                  <a:extLst>
                    <a:ext uri="{FF2B5EF4-FFF2-40B4-BE49-F238E27FC236}">
                      <a16:creationId xmlns:a16="http://schemas.microsoft.com/office/drawing/2014/main" id="{BACD13E4-74B2-5B96-00A4-E1925C06363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41723562"/>
                    </p:ext>
                  </p:extLst>
                </p:nvPr>
              </p:nvGraphicFramePr>
              <p:xfrm>
                <a:off x="9670930" y="183163"/>
                <a:ext cx="1395998" cy="876300"/>
              </p:xfrm>
              <a:graphic>
                <a:graphicData uri="http://schemas.microsoft.com/office/drawing/2017/model3d">
                  <am3d:model3d r:embed="rId18">
                    <am3d:spPr>
                      <a:xfrm>
                        <a:off x="0" y="0"/>
                        <a:ext cx="1395998" cy="876300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19"/>
                    </am3d:raster>
                    <am3d:objViewport viewportSz="1870827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2" name="3D Model 31" descr="Cloud">
                  <a:extLst>
                    <a:ext uri="{FF2B5EF4-FFF2-40B4-BE49-F238E27FC236}">
                      <a16:creationId xmlns:a16="http://schemas.microsoft.com/office/drawing/2014/main" id="{BACD13E4-74B2-5B96-00A4-E1925C06363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701073" y="148439"/>
                  <a:ext cx="1395998" cy="876300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3" name="3D Model 32" descr="Cloud">
                  <a:extLst>
                    <a:ext uri="{FF2B5EF4-FFF2-40B4-BE49-F238E27FC236}">
                      <a16:creationId xmlns:a16="http://schemas.microsoft.com/office/drawing/2014/main" id="{8762CF5F-2CD0-7330-38C2-4E2CE8E754B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95238224"/>
                    </p:ext>
                  </p:extLst>
                </p:nvPr>
              </p:nvGraphicFramePr>
              <p:xfrm>
                <a:off x="9036253" y="543908"/>
                <a:ext cx="1659688" cy="1041824"/>
              </p:xfrm>
              <a:graphic>
                <a:graphicData uri="http://schemas.microsoft.com/office/drawing/2017/model3d">
                  <am3d:model3d r:embed="rId18">
                    <am3d:spPr>
                      <a:xfrm>
                        <a:off x="0" y="0"/>
                        <a:ext cx="1659688" cy="1041824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0"/>
                    </am3d:raster>
                    <am3d:objViewport viewportSz="2224208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3" name="3D Model 32" descr="Cloud">
                  <a:extLst>
                    <a:ext uri="{FF2B5EF4-FFF2-40B4-BE49-F238E27FC236}">
                      <a16:creationId xmlns:a16="http://schemas.microsoft.com/office/drawing/2014/main" id="{8762CF5F-2CD0-7330-38C2-4E2CE8E754B4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66396" y="509184"/>
                  <a:ext cx="1659688" cy="1041824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4" name="3D Model 33" descr="Cloud">
                  <a:extLst>
                    <a:ext uri="{FF2B5EF4-FFF2-40B4-BE49-F238E27FC236}">
                      <a16:creationId xmlns:a16="http://schemas.microsoft.com/office/drawing/2014/main" id="{9D04139A-3A0E-FBAD-1DC9-65784A41CC8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89969817"/>
                    </p:ext>
                  </p:extLst>
                </p:nvPr>
              </p:nvGraphicFramePr>
              <p:xfrm>
                <a:off x="7498748" y="129149"/>
                <a:ext cx="1008643" cy="633148"/>
              </p:xfrm>
              <a:graphic>
                <a:graphicData uri="http://schemas.microsoft.com/office/drawing/2017/model3d">
                  <am3d:model3d r:embed="rId18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1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4" name="3D Model 33" descr="Cloud">
                  <a:extLst>
                    <a:ext uri="{FF2B5EF4-FFF2-40B4-BE49-F238E27FC236}">
                      <a16:creationId xmlns:a16="http://schemas.microsoft.com/office/drawing/2014/main" id="{9D04139A-3A0E-FBAD-1DC9-65784A41CC80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28891" y="94425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5" name="3D Model 34" descr="Cloud">
                  <a:extLst>
                    <a:ext uri="{FF2B5EF4-FFF2-40B4-BE49-F238E27FC236}">
                      <a16:creationId xmlns:a16="http://schemas.microsoft.com/office/drawing/2014/main" id="{9C74408C-6B6A-B8FE-40C9-DFA25546564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09865708"/>
                    </p:ext>
                  </p:extLst>
                </p:nvPr>
              </p:nvGraphicFramePr>
              <p:xfrm>
                <a:off x="2940250" y="871860"/>
                <a:ext cx="1008643" cy="633148"/>
              </p:xfrm>
              <a:graphic>
                <a:graphicData uri="http://schemas.microsoft.com/office/drawing/2017/model3d">
                  <am3d:model3d r:embed="rId18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noFill/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1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5" name="3D Model 34" descr="Cloud">
                  <a:extLst>
                    <a:ext uri="{FF2B5EF4-FFF2-40B4-BE49-F238E27FC236}">
                      <a16:creationId xmlns:a16="http://schemas.microsoft.com/office/drawing/2014/main" id="{9C74408C-6B6A-B8FE-40C9-DFA25546564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70393" y="837136"/>
                  <a:ext cx="1008643" cy="633148"/>
                </a:xfrm>
                <a:prstGeom prst="rect">
                  <a:avLst/>
                </a:prstGeom>
                <a:noFill/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6" name="3D Model 35" descr="Cloud">
                  <a:extLst>
                    <a:ext uri="{FF2B5EF4-FFF2-40B4-BE49-F238E27FC236}">
                      <a16:creationId xmlns:a16="http://schemas.microsoft.com/office/drawing/2014/main" id="{0764BD7F-E766-CD13-817F-2D9E75B6B53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48877600"/>
                    </p:ext>
                  </p:extLst>
                </p:nvPr>
              </p:nvGraphicFramePr>
              <p:xfrm>
                <a:off x="789577" y="426315"/>
                <a:ext cx="1008643" cy="633148"/>
              </p:xfrm>
              <a:graphic>
                <a:graphicData uri="http://schemas.microsoft.com/office/drawing/2017/model3d">
                  <am3d:model3d r:embed="rId18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1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6" name="3D Model 35" descr="Cloud">
                  <a:extLst>
                    <a:ext uri="{FF2B5EF4-FFF2-40B4-BE49-F238E27FC236}">
                      <a16:creationId xmlns:a16="http://schemas.microsoft.com/office/drawing/2014/main" id="{0764BD7F-E766-CD13-817F-2D9E75B6B53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19720" y="391591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F8ED918-63B6-A37E-B217-F0831D434372}"/>
              </a:ext>
            </a:extLst>
          </p:cNvPr>
          <p:cNvSpPr txBox="1"/>
          <p:nvPr/>
        </p:nvSpPr>
        <p:spPr>
          <a:xfrm>
            <a:off x="1685183" y="1732268"/>
            <a:ext cx="901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Self-Optimal Clustering Technique Using Optimized Threshold Function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57008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821 0.00463 L 0.47618 0.00463 " pathEditMode="relative" ptsTypes="AA">
                                      <p:cBhvr>
                                        <p:cTn id="6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75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59259E-6 L -0.07981 2.59259E-6 " pathEditMode="relative" rAng="0" ptsTypes="AA">
                                      <p:cBhvr>
                                        <p:cTn id="14" dur="1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82D82-CFDB-C3A3-8E05-24C31C639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2084BB-03A6-5D57-7416-031D3184918D}"/>
              </a:ext>
            </a:extLst>
          </p:cNvPr>
          <p:cNvGrpSpPr/>
          <p:nvPr/>
        </p:nvGrpSpPr>
        <p:grpSpPr>
          <a:xfrm>
            <a:off x="2779551" y="185420"/>
            <a:ext cx="6697980" cy="6487160"/>
            <a:chOff x="2747010" y="185420"/>
            <a:chExt cx="6697980" cy="6487160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BD0E1E4F-14E6-F19A-084C-9ADEB7C33EC2}"/>
                </a:ext>
              </a:extLst>
            </p:cNvPr>
            <p:cNvSpPr/>
            <p:nvPr/>
          </p:nvSpPr>
          <p:spPr>
            <a:xfrm>
              <a:off x="2747010" y="185420"/>
              <a:ext cx="6697980" cy="6487160"/>
            </a:xfrm>
            <a:prstGeom prst="flowChartConnector">
              <a:avLst/>
            </a:prstGeom>
            <a:solidFill>
              <a:srgbClr val="989292">
                <a:alpha val="40000"/>
              </a:srgbClr>
            </a:solidFill>
            <a:ln w="152400">
              <a:solidFill>
                <a:srgbClr val="00B05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56FD870-4851-B155-C385-72784454D5E6}"/>
                </a:ext>
              </a:extLst>
            </p:cNvPr>
            <p:cNvSpPr txBox="1"/>
            <p:nvPr/>
          </p:nvSpPr>
          <p:spPr>
            <a:xfrm>
              <a:off x="3590335" y="3678535"/>
              <a:ext cx="5220181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CD37EA-26FD-7B6E-96EB-21453CEB955D}"/>
                </a:ext>
              </a:extLst>
            </p:cNvPr>
            <p:cNvSpPr txBox="1"/>
            <p:nvPr/>
          </p:nvSpPr>
          <p:spPr>
            <a:xfrm>
              <a:off x="3070471" y="2746663"/>
              <a:ext cx="625990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7200" b="1" dirty="0">
                  <a:solidFill>
                    <a:srgbClr val="FFFFFF"/>
                  </a:solidFill>
                </a:rPr>
                <a:t>Comparison</a:t>
              </a:r>
              <a:endPara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368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3B435-884D-98AD-B95E-CBFB55046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BC2D4A-587D-654B-6E59-132EA1E625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group of cubes floating in the air">
            <a:extLst>
              <a:ext uri="{FF2B5EF4-FFF2-40B4-BE49-F238E27FC236}">
                <a16:creationId xmlns:a16="http://schemas.microsoft.com/office/drawing/2014/main" id="{C8E07D39-802A-DA2D-DA88-36BA3141D6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20" b="12420"/>
          <a:stretch>
            <a:fillRect/>
          </a:stretch>
        </p:blipFill>
        <p:spPr>
          <a:xfrm>
            <a:off x="0" y="-972000"/>
            <a:ext cx="12192000" cy="78184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85137F4-C5FD-8FA9-22B3-C0B797A7091B}"/>
              </a:ext>
            </a:extLst>
          </p:cNvPr>
          <p:cNvGrpSpPr/>
          <p:nvPr/>
        </p:nvGrpSpPr>
        <p:grpSpPr>
          <a:xfrm>
            <a:off x="-1620964" y="-4076588"/>
            <a:ext cx="15499010" cy="15011176"/>
            <a:chOff x="-1653505" y="-4076588"/>
            <a:chExt cx="15499010" cy="15011176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9B590487-60B2-8508-CDA8-AAA2A86F1ACF}"/>
                </a:ext>
              </a:extLst>
            </p:cNvPr>
            <p:cNvSpPr/>
            <p:nvPr/>
          </p:nvSpPr>
          <p:spPr>
            <a:xfrm>
              <a:off x="-1653505" y="-4076588"/>
              <a:ext cx="15499010" cy="15011176"/>
            </a:xfrm>
            <a:prstGeom prst="flowChartConnector">
              <a:avLst/>
            </a:prstGeom>
            <a:noFill/>
            <a:ln w="152400">
              <a:solidFill>
                <a:srgbClr val="00B05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DD3B3B6-9262-3C6A-8A1E-475009CE8429}"/>
                </a:ext>
              </a:extLst>
            </p:cNvPr>
            <p:cNvSpPr txBox="1"/>
            <p:nvPr/>
          </p:nvSpPr>
          <p:spPr>
            <a:xfrm>
              <a:off x="2733831" y="-147504"/>
              <a:ext cx="675303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5400" dirty="0"/>
                <a:t>Comparison</a:t>
              </a:r>
              <a:endParaRPr kumimoji="0" lang="en-I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26D893B-1B27-D439-F560-8D8D0528033D}"/>
              </a:ext>
            </a:extLst>
          </p:cNvPr>
          <p:cNvSpPr txBox="1"/>
          <p:nvPr/>
        </p:nvSpPr>
        <p:spPr>
          <a:xfrm>
            <a:off x="533942" y="692440"/>
            <a:ext cx="1121789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/>
              <a:t>For comparison we will use Algorithms like </a:t>
            </a:r>
            <a:r>
              <a:rPr lang="en-US" dirty="0"/>
              <a:t>K-means, Fuzzy C-means (FCM), Expectation-Maximization (EM)K-medoids, Improved Mountain Clustering (IMC) using evaluation tools like </a:t>
            </a:r>
            <a:r>
              <a:rPr lang="en-IN" dirty="0"/>
              <a:t>Silhouette Score, Dunn Index, Cluster Quality etc.</a:t>
            </a:r>
          </a:p>
          <a:p>
            <a:pPr marL="0" indent="0">
              <a:buNone/>
            </a:pPr>
            <a:r>
              <a:rPr lang="en-IN" sz="2000" b="1" dirty="0"/>
              <a:t>Some Findings – </a:t>
            </a:r>
          </a:p>
          <a:p>
            <a:pPr marL="0" indent="0">
              <a:buNone/>
            </a:pPr>
            <a:r>
              <a:rPr lang="en-US" dirty="0"/>
              <a:t>SOC achieved higher average silhouette coefficients than all baseline methods. Dunn Index and separation scores were consistently better which means clusters were compact and well-separated.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0C392B-56C8-2014-4E96-1EBA93730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689318"/>
              </p:ext>
            </p:extLst>
          </p:nvPr>
        </p:nvGraphicFramePr>
        <p:xfrm>
          <a:off x="2047473" y="2393127"/>
          <a:ext cx="8162135" cy="41594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67162">
                  <a:extLst>
                    <a:ext uri="{9D8B030D-6E8A-4147-A177-3AD203B41FA5}">
                      <a16:colId xmlns:a16="http://schemas.microsoft.com/office/drawing/2014/main" val="701655892"/>
                    </a:ext>
                  </a:extLst>
                </a:gridCol>
                <a:gridCol w="1326325">
                  <a:extLst>
                    <a:ext uri="{9D8B030D-6E8A-4147-A177-3AD203B41FA5}">
                      <a16:colId xmlns:a16="http://schemas.microsoft.com/office/drawing/2014/main" val="207404123"/>
                    </a:ext>
                  </a:extLst>
                </a:gridCol>
                <a:gridCol w="1367162">
                  <a:extLst>
                    <a:ext uri="{9D8B030D-6E8A-4147-A177-3AD203B41FA5}">
                      <a16:colId xmlns:a16="http://schemas.microsoft.com/office/drawing/2014/main" val="2759433518"/>
                    </a:ext>
                  </a:extLst>
                </a:gridCol>
                <a:gridCol w="1367162">
                  <a:extLst>
                    <a:ext uri="{9D8B030D-6E8A-4147-A177-3AD203B41FA5}">
                      <a16:colId xmlns:a16="http://schemas.microsoft.com/office/drawing/2014/main" val="982015630"/>
                    </a:ext>
                  </a:extLst>
                </a:gridCol>
                <a:gridCol w="1367162">
                  <a:extLst>
                    <a:ext uri="{9D8B030D-6E8A-4147-A177-3AD203B41FA5}">
                      <a16:colId xmlns:a16="http://schemas.microsoft.com/office/drawing/2014/main" val="1462015141"/>
                    </a:ext>
                  </a:extLst>
                </a:gridCol>
                <a:gridCol w="1367162">
                  <a:extLst>
                    <a:ext uri="{9D8B030D-6E8A-4147-A177-3AD203B41FA5}">
                      <a16:colId xmlns:a16="http://schemas.microsoft.com/office/drawing/2014/main" val="3169101875"/>
                    </a:ext>
                  </a:extLst>
                </a:gridCol>
              </a:tblGrid>
              <a:tr h="649016">
                <a:tc>
                  <a:txBody>
                    <a:bodyPr/>
                    <a:lstStyle/>
                    <a:p>
                      <a:r>
                        <a:rPr lang="en-IN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Requires k?</a:t>
                      </a:r>
                    </a:p>
                    <a:p>
                      <a:r>
                        <a:rPr lang="en-IN" dirty="0"/>
                        <a:t>(k=no. of cluster)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Silhouette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Dunn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Auto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Cluster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512004"/>
                  </a:ext>
                </a:extLst>
              </a:tr>
              <a:tr h="649016">
                <a:tc>
                  <a:txBody>
                    <a:bodyPr/>
                    <a:lstStyle/>
                    <a:p>
                      <a:r>
                        <a:rPr lang="en-IN" dirty="0"/>
                        <a:t>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987412"/>
                  </a:ext>
                </a:extLst>
              </a:tr>
              <a:tr h="649016">
                <a:tc>
                  <a:txBody>
                    <a:bodyPr/>
                    <a:lstStyle/>
                    <a:p>
                      <a:r>
                        <a:rPr lang="en-IN" dirty="0"/>
                        <a:t>FCM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728911"/>
                  </a:ext>
                </a:extLst>
              </a:tr>
              <a:tr h="649016">
                <a:tc>
                  <a:txBody>
                    <a:bodyPr/>
                    <a:lstStyle/>
                    <a:p>
                      <a:r>
                        <a:rPr lang="en-IN" dirty="0"/>
                        <a:t>K-medoids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871336"/>
                  </a:ext>
                </a:extLst>
              </a:tr>
              <a:tr h="649016">
                <a:tc>
                  <a:txBody>
                    <a:bodyPr/>
                    <a:lstStyle/>
                    <a:p>
                      <a:r>
                        <a:rPr lang="en-IN" dirty="0"/>
                        <a:t>IMC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630785"/>
                  </a:ext>
                </a:extLst>
              </a:tr>
              <a:tr h="649016">
                <a:tc>
                  <a:txBody>
                    <a:bodyPr/>
                    <a:lstStyle/>
                    <a:p>
                      <a:r>
                        <a:rPr lang="en-IN" dirty="0"/>
                        <a:t>SOC(proposed)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Very 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335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273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9969E-CDF9-22F5-D849-858C0BED2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ainting of a lake with mountains and trees">
            <a:extLst>
              <a:ext uri="{FF2B5EF4-FFF2-40B4-BE49-F238E27FC236}">
                <a16:creationId xmlns:a16="http://schemas.microsoft.com/office/drawing/2014/main" id="{78A74429-0B88-E3B5-7E2D-AC5C5FF90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145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water">
            <a:extLst>
              <a:ext uri="{FF2B5EF4-FFF2-40B4-BE49-F238E27FC236}">
                <a16:creationId xmlns:a16="http://schemas.microsoft.com/office/drawing/2014/main" id="{EB9BE06D-506C-922D-9050-6F4708FB3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4926226"/>
            <a:ext cx="12192000" cy="1931773"/>
          </a:xfrm>
          <a:prstGeom prst="rect">
            <a:avLst/>
          </a:prstGeom>
        </p:spPr>
      </p:pic>
      <p:pic>
        <p:nvPicPr>
          <p:cNvPr id="7" name="Picture 6" descr="A painting of a lake with mountains and trees&#10;&#10;AI-generated content may be incorrect.">
            <a:extLst>
              <a:ext uri="{FF2B5EF4-FFF2-40B4-BE49-F238E27FC236}">
                <a16:creationId xmlns:a16="http://schemas.microsoft.com/office/drawing/2014/main" id="{7C8F0ED3-C67F-8B4F-EB08-A34A354498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34520"/>
          <a:stretch/>
        </p:blipFill>
        <p:spPr>
          <a:xfrm>
            <a:off x="0" y="0"/>
            <a:ext cx="12192000" cy="4926225"/>
          </a:xfrm>
          <a:prstGeom prst="rect">
            <a:avLst/>
          </a:prstGeom>
          <a:effectLst>
            <a:reflection blurRad="6350" stA="30000" endPos="57000" dist="139700" dir="5400000" sy="-100000" algn="bl" rotWithShape="0"/>
          </a:effec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Row Boat">
                <a:extLst>
                  <a:ext uri="{FF2B5EF4-FFF2-40B4-BE49-F238E27FC236}">
                    <a16:creationId xmlns:a16="http://schemas.microsoft.com/office/drawing/2014/main" id="{0948A0EF-4952-2B2F-5608-4977C3864B9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917673" y="4967973"/>
              <a:ext cx="1127440" cy="38844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127440" cy="38844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glow>
                        <a:schemeClr val="accent1"/>
                      </a:glow>
                      <a:outerShdw blurRad="50800" dir="5400000" sx="79000" sy="79000" algn="t" rotWithShape="0">
                        <a:prstClr val="black">
                          <a:alpha val="0"/>
                        </a:prstClr>
                      </a:outerShdw>
                      <a:reflection stA="82000" dir="5400000" sy="-100000" algn="bl" rotWithShape="0"/>
                      <a:softEdge rad="25400"/>
                    </a:effectLst>
                    <a:scene3d>
                      <a:camera prst="orthographicFront"/>
                      <a:lightRig rig="flood" dir="t"/>
                    </a:scene3d>
                    <a:sp3d z="-95250" extrusionH="76200">
                      <a:extrusionClr>
                        <a:srgbClr val="222531"/>
                      </a:extrusionClr>
                    </a:sp3d>
                  </am3d:spPr>
                  <am3d:camera>
                    <am3d:pos x="0" y="0" z="6736780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50578" d="1000000"/>
                    <am3d:preTrans dx="0" dy="-5157511" dz="-655980"/>
                    <am3d:scale>
                      <am3d:sx n="1000000" d="1000000"/>
                      <am3d:sy n="1000000" d="1000000"/>
                      <am3d:sz n="1000000" d="1000000"/>
                    </am3d:scale>
                    <am3d:rot ax="133689" ay="4982798" az="13271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5443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Row Boat">
                <a:extLst>
                  <a:ext uri="{FF2B5EF4-FFF2-40B4-BE49-F238E27FC236}">
                    <a16:creationId xmlns:a16="http://schemas.microsoft.com/office/drawing/2014/main" id="{0948A0EF-4952-2B2F-5608-4977C3864B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17673" y="4967973"/>
                <a:ext cx="1127440" cy="388446"/>
              </a:xfrm>
              <a:prstGeom prst="rect">
                <a:avLst/>
              </a:prstGeom>
              <a:noFill/>
              <a:ln>
                <a:noFill/>
              </a:ln>
              <a:effectLst>
                <a:glow>
                  <a:schemeClr val="accent1"/>
                </a:glow>
                <a:outerShdw blurRad="50800" dir="5400000" sx="79000" sy="79000" algn="t" rotWithShape="0">
                  <a:prstClr val="black">
                    <a:alpha val="0"/>
                  </a:prstClr>
                </a:outerShdw>
                <a:reflection stA="82000" dir="5400000" sy="-100000" algn="bl" rotWithShape="0"/>
                <a:softEdge rad="25400"/>
              </a:effectLst>
              <a:scene3d>
                <a:camera prst="orthographicFront"/>
                <a:lightRig rig="flood" dir="t"/>
              </a:scene3d>
              <a:sp3d z="-95250" extrusionH="76200">
                <a:extrusionClr>
                  <a:srgbClr val="222531"/>
                </a:extrusion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0" name="Section Zoom 19">
                <a:extLst>
                  <a:ext uri="{FF2B5EF4-FFF2-40B4-BE49-F238E27FC236}">
                    <a16:creationId xmlns:a16="http://schemas.microsoft.com/office/drawing/2014/main" id="{7E1FF649-D239-C0AE-57B1-BC3BE2C54C70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375797" y="3722370"/>
              <a:ext cx="1611630" cy="906542"/>
            </p:xfrm>
            <a:graphic>
              <a:graphicData uri="http://schemas.microsoft.com/office/powerpoint/2016/sectionzoom">
                <psez:sectionZm>
                  <psez:sectionZmObj sectionId="{D16973A3-EDB5-48E2-B9AF-9050E319D977}">
                    <psez:zmPr id="{4AC8DD4F-1764-4E96-86BF-8AC0B4EBBCAC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1630" cy="906542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0" name="Section Zoom 19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7E1FF649-D239-C0AE-57B1-BC3BE2C54C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5797" y="3722370"/>
                <a:ext cx="1611630" cy="906542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2" name="Section Zoom 21">
                <a:extLst>
                  <a:ext uri="{FF2B5EF4-FFF2-40B4-BE49-F238E27FC236}">
                    <a16:creationId xmlns:a16="http://schemas.microsoft.com/office/drawing/2014/main" id="{A8BF08E6-AC55-D82D-3F35-747AE566D1EE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1782430" y="372364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4FD5D4E6-F7C3-4914-9318-ED19C1E6FF14}">
                    <psez:zmPr id="{7B59E664-5E19-4CAE-BE00-1984AB46BA51}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2" name="Section Zoom 21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A8BF08E6-AC55-D82D-3F35-747AE566D1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82430" y="372364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4" name="Section Zoom 23">
                <a:extLst>
                  <a:ext uri="{FF2B5EF4-FFF2-40B4-BE49-F238E27FC236}">
                    <a16:creationId xmlns:a16="http://schemas.microsoft.com/office/drawing/2014/main" id="{FA6BDB9D-F2AA-91F7-3A01-2B3F90F3B0BB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3171760" y="372237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0433E9D2-1814-48AD-9DC9-6C369C7905A5}">
                    <psez:zmPr id="{FF7D271A-69A7-4402-B1DC-D9EFA7C49681}" transitionDur="1000" showBg="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4" name="Section Zoom 23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FA6BDB9D-F2AA-91F7-3A01-2B3F90F3B0B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71760" y="372237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6" name="Section Zoom 25">
                <a:extLst>
                  <a:ext uri="{FF2B5EF4-FFF2-40B4-BE49-F238E27FC236}">
                    <a16:creationId xmlns:a16="http://schemas.microsoft.com/office/drawing/2014/main" id="{4139757B-D3E5-2295-0644-53750DCE4EBF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4633406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D1794EA3-E97F-47F1-9BA2-C666310B0362}">
                    <psez:zmPr id="{A82EA7F5-AC32-44E6-A150-CF5FA37D8A45}" transitionDur="1000" showBg="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6" name="Section Zoom 25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4139757B-D3E5-2295-0644-53750DCE4EB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33406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8" name="Section Zoom 27">
                <a:extLst>
                  <a:ext uri="{FF2B5EF4-FFF2-40B4-BE49-F238E27FC236}">
                    <a16:creationId xmlns:a16="http://schemas.microsoft.com/office/drawing/2014/main" id="{D03F878A-6BDB-E20A-7E3F-3AF8C272F4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56696884"/>
                  </p:ext>
                </p:extLst>
              </p:nvPr>
            </p:nvGraphicFramePr>
            <p:xfrm>
              <a:off x="6125532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E8FCBE11-F932-48E1-A632-5D60819C1CF5}">
                    <psez:zmPr id="{5EA598CC-CFE4-4A5F-AF53-EEA4AEECA3F6}" transitionDur="1000" showBg="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8" name="Section Zoom 27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D03F878A-6BDB-E20A-7E3F-3AF8C272F4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25532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D69D01DC-F647-9EFC-916E-35163723C219}"/>
              </a:ext>
            </a:extLst>
          </p:cNvPr>
          <p:cNvGrpSpPr/>
          <p:nvPr/>
        </p:nvGrpSpPr>
        <p:grpSpPr>
          <a:xfrm>
            <a:off x="1819720" y="94425"/>
            <a:ext cx="10277351" cy="1456583"/>
            <a:chOff x="789577" y="129149"/>
            <a:chExt cx="10277351" cy="1456583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3" name="3D Model 32" descr="Cloud">
                  <a:extLst>
                    <a:ext uri="{FF2B5EF4-FFF2-40B4-BE49-F238E27FC236}">
                      <a16:creationId xmlns:a16="http://schemas.microsoft.com/office/drawing/2014/main" id="{D45A3AFA-49F9-CFE1-9BB5-6896C046B49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41723562"/>
                    </p:ext>
                  </p:extLst>
                </p:nvPr>
              </p:nvGraphicFramePr>
              <p:xfrm>
                <a:off x="9670930" y="183163"/>
                <a:ext cx="1395998" cy="876300"/>
              </p:xfrm>
              <a:graphic>
                <a:graphicData uri="http://schemas.microsoft.com/office/drawing/2017/model3d">
                  <am3d:model3d r:embed="rId21">
                    <am3d:spPr>
                      <a:xfrm>
                        <a:off x="0" y="0"/>
                        <a:ext cx="1395998" cy="876300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2"/>
                    </am3d:raster>
                    <am3d:objViewport viewportSz="1870827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3" name="3D Model 32" descr="Cloud">
                  <a:extLst>
                    <a:ext uri="{FF2B5EF4-FFF2-40B4-BE49-F238E27FC236}">
                      <a16:creationId xmlns:a16="http://schemas.microsoft.com/office/drawing/2014/main" id="{D45A3AFA-49F9-CFE1-9BB5-6896C046B494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701073" y="148439"/>
                  <a:ext cx="1395998" cy="876300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4" name="3D Model 33" descr="Cloud">
                  <a:extLst>
                    <a:ext uri="{FF2B5EF4-FFF2-40B4-BE49-F238E27FC236}">
                      <a16:creationId xmlns:a16="http://schemas.microsoft.com/office/drawing/2014/main" id="{9AAB88CE-714C-290A-B04B-D08E68F1D57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95238224"/>
                    </p:ext>
                  </p:extLst>
                </p:nvPr>
              </p:nvGraphicFramePr>
              <p:xfrm>
                <a:off x="9036253" y="543908"/>
                <a:ext cx="1659688" cy="1041824"/>
              </p:xfrm>
              <a:graphic>
                <a:graphicData uri="http://schemas.microsoft.com/office/drawing/2017/model3d">
                  <am3d:model3d r:embed="rId21">
                    <am3d:spPr>
                      <a:xfrm>
                        <a:off x="0" y="0"/>
                        <a:ext cx="1659688" cy="1041824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3"/>
                    </am3d:raster>
                    <am3d:objViewport viewportSz="2224208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4" name="3D Model 33" descr="Cloud">
                  <a:extLst>
                    <a:ext uri="{FF2B5EF4-FFF2-40B4-BE49-F238E27FC236}">
                      <a16:creationId xmlns:a16="http://schemas.microsoft.com/office/drawing/2014/main" id="{9AAB88CE-714C-290A-B04B-D08E68F1D574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6396" y="509184"/>
                  <a:ext cx="1659688" cy="1041824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5" name="3D Model 34" descr="Cloud">
                  <a:extLst>
                    <a:ext uri="{FF2B5EF4-FFF2-40B4-BE49-F238E27FC236}">
                      <a16:creationId xmlns:a16="http://schemas.microsoft.com/office/drawing/2014/main" id="{919BB3F4-B215-1093-FB8A-0955FAA4381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89969817"/>
                    </p:ext>
                  </p:extLst>
                </p:nvPr>
              </p:nvGraphicFramePr>
              <p:xfrm>
                <a:off x="7498748" y="129149"/>
                <a:ext cx="1008643" cy="633148"/>
              </p:xfrm>
              <a:graphic>
                <a:graphicData uri="http://schemas.microsoft.com/office/drawing/2017/model3d">
                  <am3d:model3d r:embed="rId21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4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5" name="3D Model 34" descr="Cloud">
                  <a:extLst>
                    <a:ext uri="{FF2B5EF4-FFF2-40B4-BE49-F238E27FC236}">
                      <a16:creationId xmlns:a16="http://schemas.microsoft.com/office/drawing/2014/main" id="{919BB3F4-B215-1093-FB8A-0955FAA4381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28891" y="94425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6" name="3D Model 35" descr="Cloud">
                  <a:extLst>
                    <a:ext uri="{FF2B5EF4-FFF2-40B4-BE49-F238E27FC236}">
                      <a16:creationId xmlns:a16="http://schemas.microsoft.com/office/drawing/2014/main" id="{D47A2D19-21D2-8896-69E1-49D267138ED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09865708"/>
                    </p:ext>
                  </p:extLst>
                </p:nvPr>
              </p:nvGraphicFramePr>
              <p:xfrm>
                <a:off x="2940250" y="871860"/>
                <a:ext cx="1008643" cy="633148"/>
              </p:xfrm>
              <a:graphic>
                <a:graphicData uri="http://schemas.microsoft.com/office/drawing/2017/model3d">
                  <am3d:model3d r:embed="rId21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noFill/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4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6" name="3D Model 35" descr="Cloud">
                  <a:extLst>
                    <a:ext uri="{FF2B5EF4-FFF2-40B4-BE49-F238E27FC236}">
                      <a16:creationId xmlns:a16="http://schemas.microsoft.com/office/drawing/2014/main" id="{D47A2D19-21D2-8896-69E1-49D267138EDA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70393" y="837136"/>
                  <a:ext cx="1008643" cy="633148"/>
                </a:xfrm>
                <a:prstGeom prst="rect">
                  <a:avLst/>
                </a:prstGeom>
                <a:noFill/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7" name="3D Model 36" descr="Cloud">
                  <a:extLst>
                    <a:ext uri="{FF2B5EF4-FFF2-40B4-BE49-F238E27FC236}">
                      <a16:creationId xmlns:a16="http://schemas.microsoft.com/office/drawing/2014/main" id="{C38F6968-77AA-838A-3023-53001764E2E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48877600"/>
                    </p:ext>
                  </p:extLst>
                </p:nvPr>
              </p:nvGraphicFramePr>
              <p:xfrm>
                <a:off x="789577" y="426315"/>
                <a:ext cx="1008643" cy="633148"/>
              </p:xfrm>
              <a:graphic>
                <a:graphicData uri="http://schemas.microsoft.com/office/drawing/2017/model3d">
                  <am3d:model3d r:embed="rId21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4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7" name="3D Model 36" descr="Cloud">
                  <a:extLst>
                    <a:ext uri="{FF2B5EF4-FFF2-40B4-BE49-F238E27FC236}">
                      <a16:creationId xmlns:a16="http://schemas.microsoft.com/office/drawing/2014/main" id="{C38F6968-77AA-838A-3023-53001764E2E4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19720" y="391591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C3D39E1-1EA6-2DF0-1017-706A3D12B9DE}"/>
              </a:ext>
            </a:extLst>
          </p:cNvPr>
          <p:cNvSpPr txBox="1"/>
          <p:nvPr/>
        </p:nvSpPr>
        <p:spPr>
          <a:xfrm>
            <a:off x="1685183" y="1732268"/>
            <a:ext cx="901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Self-Optimal Clustering Technique Using Optimized Threshold Function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253386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618 0.0074 L 0.59922 0.0074 " pathEditMode="relative" ptsTypes="AA">
                                      <p:cBhvr>
                                        <p:cTn id="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59259E-6 L -0.07981 2.59259E-6 " pathEditMode="relative" rAng="0" ptsTypes="AA">
                                      <p:cBhvr>
                                        <p:cTn id="14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007B9-ED50-15A9-7AC3-98DB89B9C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8A7CBD8-57A0-7439-94F0-C22573A3C137}"/>
              </a:ext>
            </a:extLst>
          </p:cNvPr>
          <p:cNvGrpSpPr/>
          <p:nvPr/>
        </p:nvGrpSpPr>
        <p:grpSpPr>
          <a:xfrm>
            <a:off x="2779551" y="185420"/>
            <a:ext cx="6697980" cy="6487160"/>
            <a:chOff x="2747010" y="185420"/>
            <a:chExt cx="6697980" cy="6487160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B73E33A4-73FA-446C-7D34-3088C7465184}"/>
                </a:ext>
              </a:extLst>
            </p:cNvPr>
            <p:cNvSpPr/>
            <p:nvPr/>
          </p:nvSpPr>
          <p:spPr>
            <a:xfrm>
              <a:off x="2747010" y="185420"/>
              <a:ext cx="6697980" cy="6487160"/>
            </a:xfrm>
            <a:prstGeom prst="flowChartConnector">
              <a:avLst/>
            </a:prstGeom>
            <a:solidFill>
              <a:srgbClr val="989292">
                <a:alpha val="40000"/>
              </a:srgbClr>
            </a:solidFill>
            <a:ln w="152400">
              <a:solidFill>
                <a:srgbClr val="00B05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5FCCE9-7A0D-BD1E-A3DA-0CD5C3FAB716}"/>
                </a:ext>
              </a:extLst>
            </p:cNvPr>
            <p:cNvSpPr txBox="1"/>
            <p:nvPr/>
          </p:nvSpPr>
          <p:spPr>
            <a:xfrm>
              <a:off x="3706081" y="3678535"/>
              <a:ext cx="5069711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ECA1A40-1FE5-8829-44ED-AC8DBB574AB4}"/>
                </a:ext>
              </a:extLst>
            </p:cNvPr>
            <p:cNvSpPr txBox="1"/>
            <p:nvPr/>
          </p:nvSpPr>
          <p:spPr>
            <a:xfrm>
              <a:off x="2966046" y="1887632"/>
              <a:ext cx="6259907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6600" b="1" dirty="0">
                  <a:solidFill>
                    <a:srgbClr val="FFFFFF"/>
                  </a:solidFill>
                </a:rPr>
                <a:t>STRENGTHS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6600" b="1" dirty="0">
                  <a:solidFill>
                    <a:srgbClr val="FFFFFF"/>
                  </a:solidFill>
                </a:rPr>
                <a:t>AND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6600" b="1" dirty="0">
                  <a:solidFill>
                    <a:srgbClr val="FFFFFF"/>
                  </a:solidFill>
                </a:rPr>
                <a:t>LIMITATIONS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378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5B72F-C5A2-B0E6-36A7-AE2119FC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4082F54-2787-E408-6F53-8CC4DBF435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 descr="A group of cubes floating in the air">
            <a:extLst>
              <a:ext uri="{FF2B5EF4-FFF2-40B4-BE49-F238E27FC236}">
                <a16:creationId xmlns:a16="http://schemas.microsoft.com/office/drawing/2014/main" id="{6EDA8E9A-BF1A-77F0-5CF3-2B0C538C90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20" b="12420"/>
          <a:stretch>
            <a:fillRect/>
          </a:stretch>
        </p:blipFill>
        <p:spPr>
          <a:xfrm>
            <a:off x="0" y="-972000"/>
            <a:ext cx="12192000" cy="78184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6613B79-746B-BDD7-A612-E60CAF095E51}"/>
              </a:ext>
            </a:extLst>
          </p:cNvPr>
          <p:cNvGrpSpPr/>
          <p:nvPr/>
        </p:nvGrpSpPr>
        <p:grpSpPr>
          <a:xfrm>
            <a:off x="-1620964" y="-4076588"/>
            <a:ext cx="15499010" cy="15011176"/>
            <a:chOff x="-1653505" y="-4076588"/>
            <a:chExt cx="15499010" cy="15011176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88EF225A-A631-CFDE-2DC3-659B0689E127}"/>
                </a:ext>
              </a:extLst>
            </p:cNvPr>
            <p:cNvSpPr/>
            <p:nvPr/>
          </p:nvSpPr>
          <p:spPr>
            <a:xfrm>
              <a:off x="-1653505" y="-4076588"/>
              <a:ext cx="15499010" cy="15011176"/>
            </a:xfrm>
            <a:prstGeom prst="flowChartConnector">
              <a:avLst/>
            </a:prstGeom>
            <a:noFill/>
            <a:ln w="152400">
              <a:solidFill>
                <a:srgbClr val="00B05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452D7B7-2C2F-D49E-E1ED-845E6BFBE342}"/>
                </a:ext>
              </a:extLst>
            </p:cNvPr>
            <p:cNvSpPr txBox="1"/>
            <p:nvPr/>
          </p:nvSpPr>
          <p:spPr>
            <a:xfrm>
              <a:off x="2282629" y="165580"/>
              <a:ext cx="762674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4800" dirty="0"/>
                <a:t>STRENGTHS AND LIMITATIONS</a:t>
              </a: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CB29598-8A3D-4C34-ACD9-7A2B2F15CE71}"/>
              </a:ext>
            </a:extLst>
          </p:cNvPr>
          <p:cNvSpPr txBox="1"/>
          <p:nvPr/>
        </p:nvSpPr>
        <p:spPr>
          <a:xfrm>
            <a:off x="668264" y="1900820"/>
            <a:ext cx="7831014" cy="21852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800" b="1" dirty="0"/>
              <a:t>STRENGTHS</a:t>
            </a:r>
            <a:r>
              <a:rPr lang="en-IN" sz="2800" dirty="0"/>
              <a:t>:</a:t>
            </a:r>
            <a:br>
              <a:rPr lang="en-IN" sz="2800" dirty="0"/>
            </a:br>
            <a:r>
              <a:rPr lang="en-IN" sz="1800" b="1" dirty="0"/>
              <a:t>1. </a:t>
            </a:r>
            <a:r>
              <a:rPr lang="en-IN" sz="1800" dirty="0"/>
              <a:t>Improved Cluster Quality</a:t>
            </a:r>
            <a:r>
              <a:rPr lang="en-IN" dirty="0"/>
              <a:t> and automation</a:t>
            </a:r>
            <a:br>
              <a:rPr lang="en-IN" sz="1800" dirty="0"/>
            </a:br>
            <a:br>
              <a:rPr lang="en-IN" sz="1800" b="1" dirty="0"/>
            </a:br>
            <a:r>
              <a:rPr lang="en-IN" sz="1800" b="1" dirty="0"/>
              <a:t>2.</a:t>
            </a:r>
            <a:r>
              <a:rPr lang="en-IN" sz="1800" dirty="0"/>
              <a:t>Well-Supported by Validity Indices(like Silhouette)</a:t>
            </a:r>
            <a:br>
              <a:rPr lang="en-IN" sz="1800" b="1" dirty="0"/>
            </a:br>
            <a:br>
              <a:rPr lang="en-IN" sz="1800" b="1" dirty="0"/>
            </a:br>
            <a:r>
              <a:rPr lang="en-IN" sz="1800" b="1" dirty="0"/>
              <a:t>3. </a:t>
            </a:r>
            <a:r>
              <a:rPr lang="en-IN" sz="1800" dirty="0"/>
              <a:t>Enhanced Visualization(</a:t>
            </a:r>
            <a:r>
              <a:rPr lang="en-US" sz="1800" dirty="0"/>
              <a:t>The resulting clusters are often more visually distinct and easier to interpret)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B3FB3B-3566-4F2A-FB21-B0267EA9CA43}"/>
              </a:ext>
            </a:extLst>
          </p:cNvPr>
          <p:cNvSpPr txBox="1"/>
          <p:nvPr/>
        </p:nvSpPr>
        <p:spPr>
          <a:xfrm>
            <a:off x="6692166" y="4685633"/>
            <a:ext cx="4744721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 b="1" dirty="0"/>
              <a:t>1.</a:t>
            </a:r>
            <a:r>
              <a:rPr lang="en-US" sz="1800" dirty="0"/>
              <a:t>Time-consuming, especially with large datasets</a:t>
            </a:r>
          </a:p>
          <a:p>
            <a:r>
              <a:rPr lang="en-US" sz="1800" dirty="0"/>
              <a:t> because </a:t>
            </a:r>
            <a:r>
              <a:rPr lang="en-US" dirty="0"/>
              <a:t>SOC involves density estimation and</a:t>
            </a:r>
          </a:p>
          <a:p>
            <a:r>
              <a:rPr lang="en-US" dirty="0"/>
              <a:t> peak detection.</a:t>
            </a:r>
          </a:p>
          <a:p>
            <a:r>
              <a:rPr lang="en-US" sz="1800" b="1" dirty="0"/>
              <a:t>2.</a:t>
            </a:r>
            <a:r>
              <a:rPr lang="en-IN" sz="1800" dirty="0"/>
              <a:t> Sensitive to threshold-interpolation.</a:t>
            </a:r>
          </a:p>
          <a:p>
            <a:pPr algn="r"/>
            <a:endParaRPr lang="en-IN" sz="1800" dirty="0"/>
          </a:p>
          <a:p>
            <a:pPr algn="r"/>
            <a:endParaRPr lang="en-IN" sz="1800" b="1" dirty="0"/>
          </a:p>
          <a:p>
            <a:pPr algn="r"/>
            <a:endParaRPr lang="en-IN" sz="1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2D0E15-9D73-CAA6-6D4B-2946B8CDB9F5}"/>
              </a:ext>
            </a:extLst>
          </p:cNvPr>
          <p:cNvSpPr txBox="1"/>
          <p:nvPr/>
        </p:nvSpPr>
        <p:spPr>
          <a:xfrm>
            <a:off x="9238268" y="4162413"/>
            <a:ext cx="21986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dirty="0"/>
              <a:t>LIMITATIONS: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0480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A356-A209-2776-3890-A774B639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ainting of a lake with mountains and trees">
            <a:extLst>
              <a:ext uri="{FF2B5EF4-FFF2-40B4-BE49-F238E27FC236}">
                <a16:creationId xmlns:a16="http://schemas.microsoft.com/office/drawing/2014/main" id="{CCAC44CF-5FD5-CB96-D9AF-9020F43A01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145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water">
            <a:extLst>
              <a:ext uri="{FF2B5EF4-FFF2-40B4-BE49-F238E27FC236}">
                <a16:creationId xmlns:a16="http://schemas.microsoft.com/office/drawing/2014/main" id="{F34754E6-C3F3-148B-2D30-B72C667163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4926226"/>
            <a:ext cx="12192000" cy="1931773"/>
          </a:xfrm>
          <a:prstGeom prst="rect">
            <a:avLst/>
          </a:prstGeom>
        </p:spPr>
      </p:pic>
      <p:pic>
        <p:nvPicPr>
          <p:cNvPr id="7" name="Picture 6" descr="A painting of a lake with mountains and trees&#10;&#10;AI-generated content may be incorrect.">
            <a:extLst>
              <a:ext uri="{FF2B5EF4-FFF2-40B4-BE49-F238E27FC236}">
                <a16:creationId xmlns:a16="http://schemas.microsoft.com/office/drawing/2014/main" id="{B87CFFA4-CA9B-E925-B08B-7F8FE6E4EC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34520"/>
          <a:stretch/>
        </p:blipFill>
        <p:spPr>
          <a:xfrm>
            <a:off x="0" y="0"/>
            <a:ext cx="12192000" cy="4926225"/>
          </a:xfrm>
          <a:prstGeom prst="rect">
            <a:avLst/>
          </a:prstGeom>
          <a:effectLst>
            <a:reflection blurRad="6350" stA="30000" endPos="57000" dist="139700" dir="5400000" sy="-100000" algn="bl" rotWithShape="0"/>
          </a:effec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Row Boat">
                <a:extLst>
                  <a:ext uri="{FF2B5EF4-FFF2-40B4-BE49-F238E27FC236}">
                    <a16:creationId xmlns:a16="http://schemas.microsoft.com/office/drawing/2014/main" id="{8ECD991D-15D5-C5F2-F5FC-AFFF9240023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917673" y="4967973"/>
              <a:ext cx="1127440" cy="38844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127440" cy="38844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glow>
                        <a:schemeClr val="accent1"/>
                      </a:glow>
                      <a:outerShdw blurRad="50800" dir="5400000" sx="79000" sy="79000" algn="t" rotWithShape="0">
                        <a:prstClr val="black">
                          <a:alpha val="0"/>
                        </a:prstClr>
                      </a:outerShdw>
                      <a:reflection stA="82000" dir="5400000" sy="-100000" algn="bl" rotWithShape="0"/>
                      <a:softEdge rad="25400"/>
                    </a:effectLst>
                    <a:scene3d>
                      <a:camera prst="orthographicFront"/>
                      <a:lightRig rig="flood" dir="t"/>
                    </a:scene3d>
                    <a:sp3d z="-95250" extrusionH="76200">
                      <a:extrusionClr>
                        <a:srgbClr val="222531"/>
                      </a:extrusionClr>
                    </a:sp3d>
                  </am3d:spPr>
                  <am3d:camera>
                    <am3d:pos x="0" y="0" z="6736780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50578" d="1000000"/>
                    <am3d:preTrans dx="0" dy="-5157511" dz="-655980"/>
                    <am3d:scale>
                      <am3d:sx n="1000000" d="1000000"/>
                      <am3d:sy n="1000000" d="1000000"/>
                      <am3d:sz n="1000000" d="1000000"/>
                    </am3d:scale>
                    <am3d:rot ax="133689" ay="4982798" az="13271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5443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Row Boat">
                <a:extLst>
                  <a:ext uri="{FF2B5EF4-FFF2-40B4-BE49-F238E27FC236}">
                    <a16:creationId xmlns:a16="http://schemas.microsoft.com/office/drawing/2014/main" id="{8ECD991D-15D5-C5F2-F5FC-AFFF924002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17673" y="4967973"/>
                <a:ext cx="1127440" cy="388446"/>
              </a:xfrm>
              <a:prstGeom prst="rect">
                <a:avLst/>
              </a:prstGeom>
              <a:noFill/>
              <a:ln>
                <a:noFill/>
              </a:ln>
              <a:effectLst>
                <a:glow>
                  <a:schemeClr val="accent1"/>
                </a:glow>
                <a:outerShdw blurRad="50800" dir="5400000" sx="79000" sy="79000" algn="t" rotWithShape="0">
                  <a:prstClr val="black">
                    <a:alpha val="0"/>
                  </a:prstClr>
                </a:outerShdw>
                <a:reflection stA="82000" dir="5400000" sy="-100000" algn="bl" rotWithShape="0"/>
                <a:softEdge rad="25400"/>
              </a:effectLst>
              <a:scene3d>
                <a:camera prst="orthographicFront"/>
                <a:lightRig rig="flood" dir="t"/>
              </a:scene3d>
              <a:sp3d z="-95250" extrusionH="76200">
                <a:extrusionClr>
                  <a:srgbClr val="222531"/>
                </a:extrusion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0" name="Section Zoom 19">
                <a:extLst>
                  <a:ext uri="{FF2B5EF4-FFF2-40B4-BE49-F238E27FC236}">
                    <a16:creationId xmlns:a16="http://schemas.microsoft.com/office/drawing/2014/main" id="{6F0C6AE8-C455-BE68-36A4-3F47FFE758B6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375797" y="3722370"/>
              <a:ext cx="1611630" cy="906542"/>
            </p:xfrm>
            <a:graphic>
              <a:graphicData uri="http://schemas.microsoft.com/office/powerpoint/2016/sectionzoom">
                <psez:sectionZm>
                  <psez:sectionZmObj sectionId="{D16973A3-EDB5-48E2-B9AF-9050E319D977}">
                    <psez:zmPr id="{4AC8DD4F-1764-4E96-86BF-8AC0B4EBBCAC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1630" cy="906542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0" name="Section Zoom 19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6F0C6AE8-C455-BE68-36A4-3F47FFE758B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5797" y="3722370"/>
                <a:ext cx="1611630" cy="906542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2" name="Section Zoom 21">
                <a:extLst>
                  <a:ext uri="{FF2B5EF4-FFF2-40B4-BE49-F238E27FC236}">
                    <a16:creationId xmlns:a16="http://schemas.microsoft.com/office/drawing/2014/main" id="{3A372C67-8DE8-9B83-AF72-34C1AB44F73A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1782430" y="372364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4FD5D4E6-F7C3-4914-9318-ED19C1E6FF14}">
                    <psez:zmPr id="{7B59E664-5E19-4CAE-BE00-1984AB46BA51}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2" name="Section Zoom 21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3A372C67-8DE8-9B83-AF72-34C1AB44F7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82430" y="372364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4" name="Section Zoom 23">
                <a:extLst>
                  <a:ext uri="{FF2B5EF4-FFF2-40B4-BE49-F238E27FC236}">
                    <a16:creationId xmlns:a16="http://schemas.microsoft.com/office/drawing/2014/main" id="{99957962-7710-83E2-8DDE-E9F5F2747E95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3171760" y="372237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0433E9D2-1814-48AD-9DC9-6C369C7905A5}">
                    <psez:zmPr id="{FF7D271A-69A7-4402-B1DC-D9EFA7C49681}" transitionDur="1000" showBg="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4" name="Section Zoom 23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99957962-7710-83E2-8DDE-E9F5F2747E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71760" y="372237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6" name="Section Zoom 25">
                <a:extLst>
                  <a:ext uri="{FF2B5EF4-FFF2-40B4-BE49-F238E27FC236}">
                    <a16:creationId xmlns:a16="http://schemas.microsoft.com/office/drawing/2014/main" id="{86769ECC-EC3F-F983-0B44-FA258CAE20CB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4633406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D1794EA3-E97F-47F1-9BA2-C666310B0362}">
                    <psez:zmPr id="{A82EA7F5-AC32-44E6-A150-CF5FA37D8A45}" transitionDur="1000" showBg="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6" name="Section Zoom 25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86769ECC-EC3F-F983-0B44-FA258CAE20C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33406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8" name="Section Zoom 27">
                <a:extLst>
                  <a:ext uri="{FF2B5EF4-FFF2-40B4-BE49-F238E27FC236}">
                    <a16:creationId xmlns:a16="http://schemas.microsoft.com/office/drawing/2014/main" id="{1B08E872-A822-31BB-E207-9A6DB00F9FEB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6125532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E8FCBE11-F932-48E1-A632-5D60819C1CF5}">
                    <psez:zmPr id="{5EA598CC-CFE4-4A5F-AF53-EEA4AEECA3F6}" transitionDur="1000" showBg="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8" name="Section Zoom 27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1B08E872-A822-31BB-E207-9A6DB00F9FE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25532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0" name="Section Zoom 29">
                <a:extLst>
                  <a:ext uri="{FF2B5EF4-FFF2-40B4-BE49-F238E27FC236}">
                    <a16:creationId xmlns:a16="http://schemas.microsoft.com/office/drawing/2014/main" id="{B4BF8B9C-FD19-0102-8789-E8BA3E5CC275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7597573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1DAD5F32-D26F-45D0-9156-CDF93550CF66}">
                    <psez:zmPr id="{A3DF5AED-D999-4918-A9AE-F76AC679961C}" transitionDur="1000" showBg="0">
                      <p166:blipFill xmlns:p166="http://schemas.microsoft.com/office/powerpoint/2016/6/main">
                        <a:blip r:embed="rId2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0" name="Section Zoom 29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B4BF8B9C-FD19-0102-8789-E8BA3E5CC2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97573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6A5FCED5-23E9-DF11-722C-3CA7A324C0A0}"/>
              </a:ext>
            </a:extLst>
          </p:cNvPr>
          <p:cNvGrpSpPr/>
          <p:nvPr/>
        </p:nvGrpSpPr>
        <p:grpSpPr>
          <a:xfrm>
            <a:off x="1819720" y="94425"/>
            <a:ext cx="10277351" cy="1456583"/>
            <a:chOff x="789577" y="129149"/>
            <a:chExt cx="10277351" cy="1456583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4" name="3D Model 33" descr="Cloud">
                  <a:extLst>
                    <a:ext uri="{FF2B5EF4-FFF2-40B4-BE49-F238E27FC236}">
                      <a16:creationId xmlns:a16="http://schemas.microsoft.com/office/drawing/2014/main" id="{54434B80-B4B0-DCE7-5659-8057D4F76FE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41723562"/>
                    </p:ext>
                  </p:extLst>
                </p:nvPr>
              </p:nvGraphicFramePr>
              <p:xfrm>
                <a:off x="9670930" y="183163"/>
                <a:ext cx="1395998" cy="876300"/>
              </p:xfrm>
              <a:graphic>
                <a:graphicData uri="http://schemas.microsoft.com/office/drawing/2017/model3d">
                  <am3d:model3d r:embed="rId24">
                    <am3d:spPr>
                      <a:xfrm>
                        <a:off x="0" y="0"/>
                        <a:ext cx="1395998" cy="876300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5"/>
                    </am3d:raster>
                    <am3d:objViewport viewportSz="1870827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4" name="3D Model 33" descr="Cloud">
                  <a:extLst>
                    <a:ext uri="{FF2B5EF4-FFF2-40B4-BE49-F238E27FC236}">
                      <a16:creationId xmlns:a16="http://schemas.microsoft.com/office/drawing/2014/main" id="{54434B80-B4B0-DCE7-5659-8057D4F76FE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701073" y="148439"/>
                  <a:ext cx="1395998" cy="876300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5" name="3D Model 34" descr="Cloud">
                  <a:extLst>
                    <a:ext uri="{FF2B5EF4-FFF2-40B4-BE49-F238E27FC236}">
                      <a16:creationId xmlns:a16="http://schemas.microsoft.com/office/drawing/2014/main" id="{D9A56592-E2A6-B312-4004-92DE880824A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95238224"/>
                    </p:ext>
                  </p:extLst>
                </p:nvPr>
              </p:nvGraphicFramePr>
              <p:xfrm>
                <a:off x="9036253" y="543908"/>
                <a:ext cx="1659688" cy="1041824"/>
              </p:xfrm>
              <a:graphic>
                <a:graphicData uri="http://schemas.microsoft.com/office/drawing/2017/model3d">
                  <am3d:model3d r:embed="rId24">
                    <am3d:spPr>
                      <a:xfrm>
                        <a:off x="0" y="0"/>
                        <a:ext cx="1659688" cy="1041824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6"/>
                    </am3d:raster>
                    <am3d:objViewport viewportSz="2224208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5" name="3D Model 34" descr="Cloud">
                  <a:extLst>
                    <a:ext uri="{FF2B5EF4-FFF2-40B4-BE49-F238E27FC236}">
                      <a16:creationId xmlns:a16="http://schemas.microsoft.com/office/drawing/2014/main" id="{D9A56592-E2A6-B312-4004-92DE880824A9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066396" y="509184"/>
                  <a:ext cx="1659688" cy="1041824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6" name="3D Model 35" descr="Cloud">
                  <a:extLst>
                    <a:ext uri="{FF2B5EF4-FFF2-40B4-BE49-F238E27FC236}">
                      <a16:creationId xmlns:a16="http://schemas.microsoft.com/office/drawing/2014/main" id="{C258316F-5CC8-A4DD-8055-8A45A3FCB40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89969817"/>
                    </p:ext>
                  </p:extLst>
                </p:nvPr>
              </p:nvGraphicFramePr>
              <p:xfrm>
                <a:off x="7498748" y="129149"/>
                <a:ext cx="1008643" cy="633148"/>
              </p:xfrm>
              <a:graphic>
                <a:graphicData uri="http://schemas.microsoft.com/office/drawing/2017/model3d">
                  <am3d:model3d r:embed="rId24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7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6" name="3D Model 35" descr="Cloud">
                  <a:extLst>
                    <a:ext uri="{FF2B5EF4-FFF2-40B4-BE49-F238E27FC236}">
                      <a16:creationId xmlns:a16="http://schemas.microsoft.com/office/drawing/2014/main" id="{C258316F-5CC8-A4DD-8055-8A45A3FCB40E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28891" y="94425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7" name="3D Model 36" descr="Cloud">
                  <a:extLst>
                    <a:ext uri="{FF2B5EF4-FFF2-40B4-BE49-F238E27FC236}">
                      <a16:creationId xmlns:a16="http://schemas.microsoft.com/office/drawing/2014/main" id="{98FDB145-CB5E-6772-19F3-66C5A5005CA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09865708"/>
                    </p:ext>
                  </p:extLst>
                </p:nvPr>
              </p:nvGraphicFramePr>
              <p:xfrm>
                <a:off x="2940250" y="871860"/>
                <a:ext cx="1008643" cy="633148"/>
              </p:xfrm>
              <a:graphic>
                <a:graphicData uri="http://schemas.microsoft.com/office/drawing/2017/model3d">
                  <am3d:model3d r:embed="rId24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noFill/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7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7" name="3D Model 36" descr="Cloud">
                  <a:extLst>
                    <a:ext uri="{FF2B5EF4-FFF2-40B4-BE49-F238E27FC236}">
                      <a16:creationId xmlns:a16="http://schemas.microsoft.com/office/drawing/2014/main" id="{98FDB145-CB5E-6772-19F3-66C5A5005CA4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70393" y="837136"/>
                  <a:ext cx="1008643" cy="633148"/>
                </a:xfrm>
                <a:prstGeom prst="rect">
                  <a:avLst/>
                </a:prstGeom>
                <a:noFill/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8" name="3D Model 37" descr="Cloud">
                  <a:extLst>
                    <a:ext uri="{FF2B5EF4-FFF2-40B4-BE49-F238E27FC236}">
                      <a16:creationId xmlns:a16="http://schemas.microsoft.com/office/drawing/2014/main" id="{20B1F0A8-9755-C5ED-192A-7B1281F56FA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48877600"/>
                    </p:ext>
                  </p:extLst>
                </p:nvPr>
              </p:nvGraphicFramePr>
              <p:xfrm>
                <a:off x="789577" y="426315"/>
                <a:ext cx="1008643" cy="633148"/>
              </p:xfrm>
              <a:graphic>
                <a:graphicData uri="http://schemas.microsoft.com/office/drawing/2017/model3d">
                  <am3d:model3d r:embed="rId24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7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8" name="3D Model 37" descr="Cloud">
                  <a:extLst>
                    <a:ext uri="{FF2B5EF4-FFF2-40B4-BE49-F238E27FC236}">
                      <a16:creationId xmlns:a16="http://schemas.microsoft.com/office/drawing/2014/main" id="{20B1F0A8-9755-C5ED-192A-7B1281F56FA4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19720" y="391591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D01645-FCB4-D8D6-5F6C-2E69A0482452}"/>
              </a:ext>
            </a:extLst>
          </p:cNvPr>
          <p:cNvSpPr txBox="1"/>
          <p:nvPr/>
        </p:nvSpPr>
        <p:spPr>
          <a:xfrm>
            <a:off x="1685183" y="1732268"/>
            <a:ext cx="901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Self-Optimal Clustering Technique Using Optimized Threshold Function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16891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922 0.00856 L 0.72006 0.00856 " pathEditMode="relative" ptsTypes="AA">
                                      <p:cBhvr>
                                        <p:cTn id="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59259E-6 L -0.07981 2.59259E-6 " pathEditMode="relative" rAng="0" ptsTypes="AA">
                                      <p:cBhvr>
                                        <p:cTn id="14" dur="1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775B1-BB82-0A39-74B5-99AE201D4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7CA3D75-FB0E-4F92-4EA0-D7E1CB302D88}"/>
              </a:ext>
            </a:extLst>
          </p:cNvPr>
          <p:cNvGrpSpPr/>
          <p:nvPr/>
        </p:nvGrpSpPr>
        <p:grpSpPr>
          <a:xfrm>
            <a:off x="2779551" y="185420"/>
            <a:ext cx="6697980" cy="6487160"/>
            <a:chOff x="2747010" y="185420"/>
            <a:chExt cx="6697980" cy="6487160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D0BE4319-6CCB-AE84-992F-19DCFE34D445}"/>
                </a:ext>
              </a:extLst>
            </p:cNvPr>
            <p:cNvSpPr/>
            <p:nvPr/>
          </p:nvSpPr>
          <p:spPr>
            <a:xfrm>
              <a:off x="2747010" y="185420"/>
              <a:ext cx="6697980" cy="6487160"/>
            </a:xfrm>
            <a:prstGeom prst="flowChartConnector">
              <a:avLst/>
            </a:prstGeom>
            <a:solidFill>
              <a:srgbClr val="989292">
                <a:alpha val="40000"/>
              </a:srgbClr>
            </a:solidFill>
            <a:ln w="152400">
              <a:solidFill>
                <a:srgbClr val="00B05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BEA639-0CFA-CEDD-46BB-616A0EEE17D2}"/>
                </a:ext>
              </a:extLst>
            </p:cNvPr>
            <p:cNvSpPr txBox="1"/>
            <p:nvPr/>
          </p:nvSpPr>
          <p:spPr>
            <a:xfrm>
              <a:off x="3578760" y="3678535"/>
              <a:ext cx="5582112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08386B-17D2-0653-8D29-B18C00EE4EEB}"/>
                </a:ext>
              </a:extLst>
            </p:cNvPr>
            <p:cNvSpPr txBox="1"/>
            <p:nvPr/>
          </p:nvSpPr>
          <p:spPr>
            <a:xfrm>
              <a:off x="2966046" y="2151727"/>
              <a:ext cx="6259907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IN" sz="8000" b="1" dirty="0">
                  <a:solidFill>
                    <a:srgbClr val="FFFFFF"/>
                  </a:solidFill>
                </a:rPr>
                <a:t>Enhancement</a:t>
              </a:r>
            </a:p>
            <a:p>
              <a:pPr lvl="0" algn="ctr">
                <a:defRPr/>
              </a:pPr>
              <a:r>
                <a:rPr lang="en-IN" sz="8000" b="1" dirty="0">
                  <a:solidFill>
                    <a:srgbClr val="FFFFFF"/>
                  </a:solidFill>
                </a:rPr>
                <a:t>Application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765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5AE49-3F0C-A85D-71D6-5E110CD70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FC0899-FD2D-35F9-BB1C-A528034FE8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 descr="A group of cubes floating in the air">
            <a:extLst>
              <a:ext uri="{FF2B5EF4-FFF2-40B4-BE49-F238E27FC236}">
                <a16:creationId xmlns:a16="http://schemas.microsoft.com/office/drawing/2014/main" id="{B079282E-5141-43EA-8FCA-93CBE2C49A3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20" b="12420"/>
          <a:stretch>
            <a:fillRect/>
          </a:stretch>
        </p:blipFill>
        <p:spPr>
          <a:xfrm>
            <a:off x="0" y="-972000"/>
            <a:ext cx="12192000" cy="78184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C8170F3-6D36-3DA5-CBF5-32A17CDBA04E}"/>
              </a:ext>
            </a:extLst>
          </p:cNvPr>
          <p:cNvGrpSpPr/>
          <p:nvPr/>
        </p:nvGrpSpPr>
        <p:grpSpPr>
          <a:xfrm>
            <a:off x="-1620964" y="-4076588"/>
            <a:ext cx="15499010" cy="15011176"/>
            <a:chOff x="-1653505" y="-4076588"/>
            <a:chExt cx="15499010" cy="15011176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B2AE6193-0BB5-E25A-1BC6-40CCCC687A22}"/>
                </a:ext>
              </a:extLst>
            </p:cNvPr>
            <p:cNvSpPr/>
            <p:nvPr/>
          </p:nvSpPr>
          <p:spPr>
            <a:xfrm>
              <a:off x="-1653505" y="-4076588"/>
              <a:ext cx="15499010" cy="15011176"/>
            </a:xfrm>
            <a:prstGeom prst="flowChartConnector">
              <a:avLst/>
            </a:prstGeom>
            <a:noFill/>
            <a:ln w="152400">
              <a:solidFill>
                <a:srgbClr val="00B05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4AB772B-98BC-8AC0-2BCB-A62438E7BA4C}"/>
                </a:ext>
              </a:extLst>
            </p:cNvPr>
            <p:cNvSpPr txBox="1"/>
            <p:nvPr/>
          </p:nvSpPr>
          <p:spPr>
            <a:xfrm>
              <a:off x="1330806" y="461665"/>
              <a:ext cx="983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2400" b="1" dirty="0"/>
                <a:t>Enhancement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E8A82EF-E31C-EAD4-02C4-18686199D06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774697" y="950158"/>
            <a:ext cx="10707687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PSO‑enhanced SOC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Introduces Particle Swarm Optimization for better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threshold tuning</a:t>
            </a:r>
            <a:r>
              <a:rPr lang="en-US" altLang="en-US" sz="1900" dirty="0">
                <a:latin typeface="Arial" panose="020B0604020202020204" pitchFamily="34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centroid selection although offers performance gains at higher cost.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9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358A8-66E5-C29C-1A0D-81B8028EC9E2}"/>
              </a:ext>
            </a:extLst>
          </p:cNvPr>
          <p:cNvSpPr txBox="1"/>
          <p:nvPr/>
        </p:nvSpPr>
        <p:spPr>
          <a:xfrm>
            <a:off x="774697" y="2700535"/>
            <a:ext cx="109093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Application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Threshold-based clustering in </a:t>
            </a:r>
            <a:r>
              <a:rPr lang="en-IN" sz="1800" b="1" dirty="0"/>
              <a:t>Wireless Sensor Networks(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WSNs)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Similar threshold optimization techniques used in sensor networks to select cluster heads.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Widely used in </a:t>
            </a:r>
            <a:r>
              <a:rPr lang="en-US" altLang="en-US" b="1" dirty="0">
                <a:latin typeface="Arial" panose="020B0604020202020204" pitchFamily="34" charset="0"/>
              </a:rPr>
              <a:t>medical imaging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576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00F5-C80C-6830-5E88-E7D987766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ainting of a lake with mountains and trees">
            <a:extLst>
              <a:ext uri="{FF2B5EF4-FFF2-40B4-BE49-F238E27FC236}">
                <a16:creationId xmlns:a16="http://schemas.microsoft.com/office/drawing/2014/main" id="{9F558364-A678-0A00-3599-2C47CEFCA6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145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water">
            <a:extLst>
              <a:ext uri="{FF2B5EF4-FFF2-40B4-BE49-F238E27FC236}">
                <a16:creationId xmlns:a16="http://schemas.microsoft.com/office/drawing/2014/main" id="{C1DFADF7-97FF-7D69-1DDA-84212D809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4926226"/>
            <a:ext cx="12192000" cy="1931773"/>
          </a:xfrm>
          <a:prstGeom prst="rect">
            <a:avLst/>
          </a:prstGeom>
        </p:spPr>
      </p:pic>
      <p:pic>
        <p:nvPicPr>
          <p:cNvPr id="7" name="Picture 6" descr="A painting of a lake with mountains and trees&#10;&#10;AI-generated content may be incorrect.">
            <a:extLst>
              <a:ext uri="{FF2B5EF4-FFF2-40B4-BE49-F238E27FC236}">
                <a16:creationId xmlns:a16="http://schemas.microsoft.com/office/drawing/2014/main" id="{2A6EC642-AE44-520E-F67E-723D00407A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34520"/>
          <a:stretch/>
        </p:blipFill>
        <p:spPr>
          <a:xfrm>
            <a:off x="0" y="0"/>
            <a:ext cx="12192000" cy="4926225"/>
          </a:xfrm>
          <a:prstGeom prst="rect">
            <a:avLst/>
          </a:prstGeom>
          <a:effectLst>
            <a:reflection blurRad="6350" stA="30000" endPos="57000" dist="139700" dir="5400000" sy="-100000" algn="bl" rotWithShape="0"/>
          </a:effec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Row Boat">
                <a:extLst>
                  <a:ext uri="{FF2B5EF4-FFF2-40B4-BE49-F238E27FC236}">
                    <a16:creationId xmlns:a16="http://schemas.microsoft.com/office/drawing/2014/main" id="{D4272EC2-8901-6646-35A6-AD382AB7427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917673" y="4967973"/>
              <a:ext cx="1127440" cy="38844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127440" cy="38844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glow>
                        <a:schemeClr val="accent1"/>
                      </a:glow>
                      <a:outerShdw blurRad="50800" dir="5400000" sx="79000" sy="79000" algn="t" rotWithShape="0">
                        <a:prstClr val="black">
                          <a:alpha val="0"/>
                        </a:prstClr>
                      </a:outerShdw>
                      <a:reflection stA="82000" dir="5400000" sy="-100000" algn="bl" rotWithShape="0"/>
                      <a:softEdge rad="25400"/>
                    </a:effectLst>
                    <a:scene3d>
                      <a:camera prst="orthographicFront"/>
                      <a:lightRig rig="flood" dir="t"/>
                    </a:scene3d>
                    <a:sp3d z="-95250" extrusionH="76200">
                      <a:extrusionClr>
                        <a:srgbClr val="222531"/>
                      </a:extrusionClr>
                    </a:sp3d>
                  </am3d:spPr>
                  <am3d:camera>
                    <am3d:pos x="0" y="0" z="6736780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50578" d="1000000"/>
                    <am3d:preTrans dx="0" dy="-5157511" dz="-655980"/>
                    <am3d:scale>
                      <am3d:sx n="1000000" d="1000000"/>
                      <am3d:sy n="1000000" d="1000000"/>
                      <am3d:sz n="1000000" d="1000000"/>
                    </am3d:scale>
                    <am3d:rot ax="133689" ay="4982798" az="13271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5443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Row Boat">
                <a:extLst>
                  <a:ext uri="{FF2B5EF4-FFF2-40B4-BE49-F238E27FC236}">
                    <a16:creationId xmlns:a16="http://schemas.microsoft.com/office/drawing/2014/main" id="{D4272EC2-8901-6646-35A6-AD382AB742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17673" y="4967973"/>
                <a:ext cx="1127440" cy="388446"/>
              </a:xfrm>
              <a:prstGeom prst="rect">
                <a:avLst/>
              </a:prstGeom>
              <a:noFill/>
              <a:ln>
                <a:noFill/>
              </a:ln>
              <a:effectLst>
                <a:glow>
                  <a:schemeClr val="accent1"/>
                </a:glow>
                <a:outerShdw blurRad="50800" dir="5400000" sx="79000" sy="79000" algn="t" rotWithShape="0">
                  <a:prstClr val="black">
                    <a:alpha val="0"/>
                  </a:prstClr>
                </a:outerShdw>
                <a:reflection stA="82000" dir="5400000" sy="-100000" algn="bl" rotWithShape="0"/>
                <a:softEdge rad="25400"/>
              </a:effectLst>
              <a:scene3d>
                <a:camera prst="orthographicFront"/>
                <a:lightRig rig="flood" dir="t"/>
              </a:scene3d>
              <a:sp3d z="-95250" extrusionH="76200">
                <a:extrusionClr>
                  <a:srgbClr val="222531"/>
                </a:extrusion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0" name="Section Zoom 19">
                <a:extLst>
                  <a:ext uri="{FF2B5EF4-FFF2-40B4-BE49-F238E27FC236}">
                    <a16:creationId xmlns:a16="http://schemas.microsoft.com/office/drawing/2014/main" id="{1938FD3A-0727-2DBF-2388-13849BE37499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375797" y="3722370"/>
              <a:ext cx="1611630" cy="906542"/>
            </p:xfrm>
            <a:graphic>
              <a:graphicData uri="http://schemas.microsoft.com/office/powerpoint/2016/sectionzoom">
                <psez:sectionZm>
                  <psez:sectionZmObj sectionId="{D16973A3-EDB5-48E2-B9AF-9050E319D977}">
                    <psez:zmPr id="{4AC8DD4F-1764-4E96-86BF-8AC0B4EBBCAC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1630" cy="906542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0" name="Section Zoom 19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938FD3A-0727-2DBF-2388-13849BE374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5797" y="3722370"/>
                <a:ext cx="1611630" cy="906542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2" name="Section Zoom 21">
                <a:extLst>
                  <a:ext uri="{FF2B5EF4-FFF2-40B4-BE49-F238E27FC236}">
                    <a16:creationId xmlns:a16="http://schemas.microsoft.com/office/drawing/2014/main" id="{5ED82AB2-36F1-24A9-6268-CFC9E38E6550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1782430" y="372364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4FD5D4E6-F7C3-4914-9318-ED19C1E6FF14}">
                    <psez:zmPr id="{7B59E664-5E19-4CAE-BE00-1984AB46BA51}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2" name="Section Zoom 21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5ED82AB2-36F1-24A9-6268-CFC9E38E65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82430" y="372364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4" name="Section Zoom 23">
                <a:extLst>
                  <a:ext uri="{FF2B5EF4-FFF2-40B4-BE49-F238E27FC236}">
                    <a16:creationId xmlns:a16="http://schemas.microsoft.com/office/drawing/2014/main" id="{DEA8E15A-5604-BDD2-4318-DF8E94AB2E4E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3171760" y="372237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0433E9D2-1814-48AD-9DC9-6C369C7905A5}">
                    <psez:zmPr id="{FF7D271A-69A7-4402-B1DC-D9EFA7C49681}" transitionDur="1000" showBg="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4" name="Section Zoom 23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DEA8E15A-5604-BDD2-4318-DF8E94AB2E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71760" y="372237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6" name="Section Zoom 25">
                <a:extLst>
                  <a:ext uri="{FF2B5EF4-FFF2-40B4-BE49-F238E27FC236}">
                    <a16:creationId xmlns:a16="http://schemas.microsoft.com/office/drawing/2014/main" id="{620E7C8C-E3B9-AFE0-F099-7E6BF5BC741A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4633406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D1794EA3-E97F-47F1-9BA2-C666310B0362}">
                    <psez:zmPr id="{A82EA7F5-AC32-44E6-A150-CF5FA37D8A45}" transitionDur="1000" showBg="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6" name="Section Zoom 25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620E7C8C-E3B9-AFE0-F099-7E6BF5BC741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33406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8" name="Section Zoom 27">
                <a:extLst>
                  <a:ext uri="{FF2B5EF4-FFF2-40B4-BE49-F238E27FC236}">
                    <a16:creationId xmlns:a16="http://schemas.microsoft.com/office/drawing/2014/main" id="{7B3D44EA-5CB0-E78D-5C66-F90A2946609C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6125532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E8FCBE11-F932-48E1-A632-5D60819C1CF5}">
                    <psez:zmPr id="{5EA598CC-CFE4-4A5F-AF53-EEA4AEECA3F6}" transitionDur="1000" showBg="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8" name="Section Zoom 27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7B3D44EA-5CB0-E78D-5C66-F90A294660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25532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0" name="Section Zoom 29">
                <a:extLst>
                  <a:ext uri="{FF2B5EF4-FFF2-40B4-BE49-F238E27FC236}">
                    <a16:creationId xmlns:a16="http://schemas.microsoft.com/office/drawing/2014/main" id="{773A6C43-AFC3-B1F5-E102-DB195647F174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7597573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1DAD5F32-D26F-45D0-9156-CDF93550CF66}">
                    <psez:zmPr id="{A3DF5AED-D999-4918-A9AE-F76AC679961C}" transitionDur="1000" showBg="0">
                      <p166:blipFill xmlns:p166="http://schemas.microsoft.com/office/powerpoint/2016/6/main">
                        <a:blip r:embed="rId2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0" name="Section Zoom 29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773A6C43-AFC3-B1F5-E102-DB195647F17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97573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2" name="Section Zoom 31">
                <a:extLst>
                  <a:ext uri="{FF2B5EF4-FFF2-40B4-BE49-F238E27FC236}">
                    <a16:creationId xmlns:a16="http://schemas.microsoft.com/office/drawing/2014/main" id="{A733722E-A323-B492-67B2-4A514BA84E50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/>
            </p:nvGraphicFramePr>
            <p:xfrm>
              <a:off x="9064842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A0485FA7-F47A-4BD4-B27B-48CE6D2AB06E}">
                    <psez:zmPr id="{BC4BDDA4-2102-40E4-A3B3-8835376FEC23}" transitionDur="1000" showBg="0">
                      <p166:blipFill xmlns:p166="http://schemas.microsoft.com/office/powerpoint/2016/6/main">
                        <a:blip r:embed="rId2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2" name="Section Zoom 31">
                <a:hlinkClick r:id="rId25" action="ppaction://hlinksldjump"/>
                <a:extLst>
                  <a:ext uri="{FF2B5EF4-FFF2-40B4-BE49-F238E27FC236}">
                    <a16:creationId xmlns:a16="http://schemas.microsoft.com/office/drawing/2014/main" id="{A733722E-A323-B492-67B2-4A514BA84E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064842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7C218DE4-8892-3E67-1CB0-7CF1D94E75E4}"/>
              </a:ext>
            </a:extLst>
          </p:cNvPr>
          <p:cNvGrpSpPr/>
          <p:nvPr/>
        </p:nvGrpSpPr>
        <p:grpSpPr>
          <a:xfrm>
            <a:off x="1819720" y="94425"/>
            <a:ext cx="10277351" cy="1456583"/>
            <a:chOff x="789577" y="129149"/>
            <a:chExt cx="10277351" cy="1456583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5" name="3D Model 24" descr="Cloud">
                  <a:extLst>
                    <a:ext uri="{FF2B5EF4-FFF2-40B4-BE49-F238E27FC236}">
                      <a16:creationId xmlns:a16="http://schemas.microsoft.com/office/drawing/2014/main" id="{0829D585-B4E9-08C2-7CCE-AB2F25D0962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41723562"/>
                    </p:ext>
                  </p:extLst>
                </p:nvPr>
              </p:nvGraphicFramePr>
              <p:xfrm>
                <a:off x="9670930" y="183163"/>
                <a:ext cx="1395998" cy="876300"/>
              </p:xfrm>
              <a:graphic>
                <a:graphicData uri="http://schemas.microsoft.com/office/drawing/2017/model3d">
                  <am3d:model3d r:embed="rId27">
                    <am3d:spPr>
                      <a:xfrm>
                        <a:off x="0" y="0"/>
                        <a:ext cx="1395998" cy="876300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8"/>
                    </am3d:raster>
                    <am3d:objViewport viewportSz="1870827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5" name="3D Model 24" descr="Cloud">
                  <a:extLst>
                    <a:ext uri="{FF2B5EF4-FFF2-40B4-BE49-F238E27FC236}">
                      <a16:creationId xmlns:a16="http://schemas.microsoft.com/office/drawing/2014/main" id="{0829D585-B4E9-08C2-7CCE-AB2F25D09626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701073" y="148439"/>
                  <a:ext cx="1395998" cy="876300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7" name="3D Model 26" descr="Cloud">
                  <a:extLst>
                    <a:ext uri="{FF2B5EF4-FFF2-40B4-BE49-F238E27FC236}">
                      <a16:creationId xmlns:a16="http://schemas.microsoft.com/office/drawing/2014/main" id="{3C84082F-E498-84F8-97BA-6A4F520138F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95238224"/>
                    </p:ext>
                  </p:extLst>
                </p:nvPr>
              </p:nvGraphicFramePr>
              <p:xfrm>
                <a:off x="9036253" y="543908"/>
                <a:ext cx="1659688" cy="1041824"/>
              </p:xfrm>
              <a:graphic>
                <a:graphicData uri="http://schemas.microsoft.com/office/drawing/2017/model3d">
                  <am3d:model3d r:embed="rId27">
                    <am3d:spPr>
                      <a:xfrm>
                        <a:off x="0" y="0"/>
                        <a:ext cx="1659688" cy="1041824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29"/>
                    </am3d:raster>
                    <am3d:objViewport viewportSz="2224208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7" name="3D Model 26" descr="Cloud">
                  <a:extLst>
                    <a:ext uri="{FF2B5EF4-FFF2-40B4-BE49-F238E27FC236}">
                      <a16:creationId xmlns:a16="http://schemas.microsoft.com/office/drawing/2014/main" id="{3C84082F-E498-84F8-97BA-6A4F520138F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66396" y="509184"/>
                  <a:ext cx="1659688" cy="1041824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4" name="3D Model 33" descr="Cloud">
                  <a:extLst>
                    <a:ext uri="{FF2B5EF4-FFF2-40B4-BE49-F238E27FC236}">
                      <a16:creationId xmlns:a16="http://schemas.microsoft.com/office/drawing/2014/main" id="{0F5DD7FF-2B42-075B-BCED-77C1781631F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89969817"/>
                    </p:ext>
                  </p:extLst>
                </p:nvPr>
              </p:nvGraphicFramePr>
              <p:xfrm>
                <a:off x="7498748" y="129149"/>
                <a:ext cx="1008643" cy="633148"/>
              </p:xfrm>
              <a:graphic>
                <a:graphicData uri="http://schemas.microsoft.com/office/drawing/2017/model3d">
                  <am3d:model3d r:embed="rId27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30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4" name="3D Model 33" descr="Cloud">
                  <a:extLst>
                    <a:ext uri="{FF2B5EF4-FFF2-40B4-BE49-F238E27FC236}">
                      <a16:creationId xmlns:a16="http://schemas.microsoft.com/office/drawing/2014/main" id="{0F5DD7FF-2B42-075B-BCED-77C1781631F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28891" y="94425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8" name="3D Model 37" descr="Cloud">
                  <a:extLst>
                    <a:ext uri="{FF2B5EF4-FFF2-40B4-BE49-F238E27FC236}">
                      <a16:creationId xmlns:a16="http://schemas.microsoft.com/office/drawing/2014/main" id="{E21202D0-54D2-502C-30E4-9F63FE6C837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09865708"/>
                    </p:ext>
                  </p:extLst>
                </p:nvPr>
              </p:nvGraphicFramePr>
              <p:xfrm>
                <a:off x="2940250" y="871860"/>
                <a:ext cx="1008643" cy="633148"/>
              </p:xfrm>
              <a:graphic>
                <a:graphicData uri="http://schemas.microsoft.com/office/drawing/2017/model3d">
                  <am3d:model3d r:embed="rId27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noFill/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30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8" name="3D Model 37" descr="Cloud">
                  <a:extLst>
                    <a:ext uri="{FF2B5EF4-FFF2-40B4-BE49-F238E27FC236}">
                      <a16:creationId xmlns:a16="http://schemas.microsoft.com/office/drawing/2014/main" id="{E21202D0-54D2-502C-30E4-9F63FE6C837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70393" y="837136"/>
                  <a:ext cx="1008643" cy="633148"/>
                </a:xfrm>
                <a:prstGeom prst="rect">
                  <a:avLst/>
                </a:prstGeom>
                <a:noFill/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9" name="3D Model 38" descr="Cloud">
                  <a:extLst>
                    <a:ext uri="{FF2B5EF4-FFF2-40B4-BE49-F238E27FC236}">
                      <a16:creationId xmlns:a16="http://schemas.microsoft.com/office/drawing/2014/main" id="{814F8B3D-4FF8-1A48-C4EE-FEF48161FF3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48877600"/>
                    </p:ext>
                  </p:extLst>
                </p:nvPr>
              </p:nvGraphicFramePr>
              <p:xfrm>
                <a:off x="789577" y="426315"/>
                <a:ext cx="1008643" cy="633148"/>
              </p:xfrm>
              <a:graphic>
                <a:graphicData uri="http://schemas.microsoft.com/office/drawing/2017/model3d">
                  <am3d:model3d r:embed="rId27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30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9" name="3D Model 38" descr="Cloud">
                  <a:extLst>
                    <a:ext uri="{FF2B5EF4-FFF2-40B4-BE49-F238E27FC236}">
                      <a16:creationId xmlns:a16="http://schemas.microsoft.com/office/drawing/2014/main" id="{814F8B3D-4FF8-1A48-C4EE-FEF48161FF3E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19720" y="391591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EFC035F-CD10-47FD-BAD8-06644FD0B80F}"/>
              </a:ext>
            </a:extLst>
          </p:cNvPr>
          <p:cNvSpPr txBox="1"/>
          <p:nvPr/>
        </p:nvSpPr>
        <p:spPr>
          <a:xfrm>
            <a:off x="1685183" y="1732268"/>
            <a:ext cx="901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Self-Optimal Clustering Technique Using Optimized Threshold Function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96492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2084 0.00856 L 0.8431 0.00856 " pathEditMode="relative" ptsTypes="AA">
                                      <p:cBhvr>
                                        <p:cTn id="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59259E-6 L -0.07981 2.59259E-6 " pathEditMode="relative" rAng="0" ptsTypes="AA">
                                      <p:cBhvr>
                                        <p:cTn id="14" dur="1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F1531-6366-29A1-2D6A-DADC29FB9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DB38304-76EC-58B7-3FA8-08C17722DDC2}"/>
              </a:ext>
            </a:extLst>
          </p:cNvPr>
          <p:cNvGrpSpPr/>
          <p:nvPr/>
        </p:nvGrpSpPr>
        <p:grpSpPr>
          <a:xfrm>
            <a:off x="2779551" y="185420"/>
            <a:ext cx="6697980" cy="6487160"/>
            <a:chOff x="2747010" y="185420"/>
            <a:chExt cx="6697980" cy="6487160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E5AF72A8-055B-3EB3-10BE-97E1F4A5B606}"/>
                </a:ext>
              </a:extLst>
            </p:cNvPr>
            <p:cNvSpPr/>
            <p:nvPr/>
          </p:nvSpPr>
          <p:spPr>
            <a:xfrm>
              <a:off x="2747010" y="185420"/>
              <a:ext cx="6697980" cy="6487160"/>
            </a:xfrm>
            <a:prstGeom prst="flowChartConnector">
              <a:avLst/>
            </a:prstGeom>
            <a:solidFill>
              <a:srgbClr val="989292">
                <a:alpha val="40000"/>
              </a:srgbClr>
            </a:solidFill>
            <a:ln w="152400">
              <a:solidFill>
                <a:srgbClr val="00B05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8FFF492-19A7-0835-4BB6-ECBF6E3B930E}"/>
                </a:ext>
              </a:extLst>
            </p:cNvPr>
            <p:cNvSpPr txBox="1"/>
            <p:nvPr/>
          </p:nvSpPr>
          <p:spPr>
            <a:xfrm>
              <a:off x="4531360" y="3678535"/>
              <a:ext cx="3281680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00F5578-654B-31FB-D78F-DA303E96E7CB}"/>
                </a:ext>
              </a:extLst>
            </p:cNvPr>
            <p:cNvSpPr txBox="1"/>
            <p:nvPr/>
          </p:nvSpPr>
          <p:spPr>
            <a:xfrm>
              <a:off x="2933505" y="2478206"/>
              <a:ext cx="625990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7200" b="1" dirty="0">
                  <a:solidFill>
                    <a:srgbClr val="FFFFFF"/>
                  </a:solidFill>
                </a:rPr>
                <a:t>Result</a:t>
              </a:r>
              <a:endPara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3687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764B5-F7AA-F96D-4E8E-25C78E6CB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6FCDD0B-7F15-A6A9-3F65-B4F7938D9B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 descr="A group of cubes floating in the air">
            <a:extLst>
              <a:ext uri="{FF2B5EF4-FFF2-40B4-BE49-F238E27FC236}">
                <a16:creationId xmlns:a16="http://schemas.microsoft.com/office/drawing/2014/main" id="{2640EAFD-C18A-9C1D-60E2-EF77813614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20" b="12420"/>
          <a:stretch>
            <a:fillRect/>
          </a:stretch>
        </p:blipFill>
        <p:spPr>
          <a:xfrm>
            <a:off x="0" y="-972000"/>
            <a:ext cx="12192000" cy="7818490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F7AB747B-CB5B-E9A5-75F4-C4BD545EDC4F}"/>
              </a:ext>
            </a:extLst>
          </p:cNvPr>
          <p:cNvSpPr/>
          <p:nvPr/>
        </p:nvSpPr>
        <p:spPr>
          <a:xfrm>
            <a:off x="-1620964" y="-4076588"/>
            <a:ext cx="15499010" cy="15011176"/>
          </a:xfrm>
          <a:prstGeom prst="flowChartConnector">
            <a:avLst/>
          </a:prstGeom>
          <a:noFill/>
          <a:ln w="152400">
            <a:solidFill>
              <a:srgbClr val="00B050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close up of a spark&#10;&#10;AI-generated content may be incorrect.">
            <a:extLst>
              <a:ext uri="{FF2B5EF4-FFF2-40B4-BE49-F238E27FC236}">
                <a16:creationId xmlns:a16="http://schemas.microsoft.com/office/drawing/2014/main" id="{836A2B37-2555-E336-54C1-58CCE228E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96" y="1627876"/>
            <a:ext cx="5373190" cy="3236862"/>
          </a:xfrm>
          <a:prstGeom prst="rect">
            <a:avLst/>
          </a:prstGeom>
        </p:spPr>
      </p:pic>
      <p:pic>
        <p:nvPicPr>
          <p:cNvPr id="4" name="Picture 3" descr="A close-up of a lit object&#10;&#10;AI-generated content may be incorrect.">
            <a:extLst>
              <a:ext uri="{FF2B5EF4-FFF2-40B4-BE49-F238E27FC236}">
                <a16:creationId xmlns:a16="http://schemas.microsoft.com/office/drawing/2014/main" id="{67D6E60B-017D-E614-DDB7-7577E0F096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582" y="1627876"/>
            <a:ext cx="5373189" cy="32368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790E5B-FAAB-2BD2-D10A-64B7F691A3D9}"/>
              </a:ext>
            </a:extLst>
          </p:cNvPr>
          <p:cNvSpPr txBox="1"/>
          <p:nvPr/>
        </p:nvSpPr>
        <p:spPr>
          <a:xfrm>
            <a:off x="2473235" y="1247034"/>
            <a:ext cx="1619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Original image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26B0D2-EF05-60B0-96F3-CB35219013E3}"/>
              </a:ext>
            </a:extLst>
          </p:cNvPr>
          <p:cNvSpPr txBox="1"/>
          <p:nvPr/>
        </p:nvSpPr>
        <p:spPr>
          <a:xfrm>
            <a:off x="8098973" y="1288164"/>
            <a:ext cx="1689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Clustered image </a:t>
            </a:r>
          </a:p>
        </p:txBody>
      </p:sp>
    </p:spTree>
    <p:extLst>
      <p:ext uri="{BB962C8B-B14F-4D97-AF65-F5344CB8AC3E}">
        <p14:creationId xmlns:p14="http://schemas.microsoft.com/office/powerpoint/2010/main" val="4105530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5B25F-B300-DE97-8B57-390074A1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2B29EB2-9B20-72CC-7AA5-FD07F888B5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 descr="A group of cubes floating in the air">
            <a:extLst>
              <a:ext uri="{FF2B5EF4-FFF2-40B4-BE49-F238E27FC236}">
                <a16:creationId xmlns:a16="http://schemas.microsoft.com/office/drawing/2014/main" id="{8AAA8A4A-ACB1-EC78-6FCF-7EB1840C77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20" b="12420"/>
          <a:stretch>
            <a:fillRect/>
          </a:stretch>
        </p:blipFill>
        <p:spPr>
          <a:xfrm>
            <a:off x="0" y="-972000"/>
            <a:ext cx="12192000" cy="7818490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4443B251-2823-DA9B-549D-1DE00B3D0CCB}"/>
              </a:ext>
            </a:extLst>
          </p:cNvPr>
          <p:cNvSpPr/>
          <p:nvPr/>
        </p:nvSpPr>
        <p:spPr>
          <a:xfrm>
            <a:off x="-1620964" y="-4076588"/>
            <a:ext cx="15499010" cy="15011176"/>
          </a:xfrm>
          <a:prstGeom prst="flowChartConnector">
            <a:avLst/>
          </a:prstGeom>
          <a:noFill/>
          <a:ln w="152400">
            <a:solidFill>
              <a:srgbClr val="00B050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3FEC48BF-6F44-F3A6-2E4D-6E5A14796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63" y="2104857"/>
            <a:ext cx="11671356" cy="32160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C47E25-ECD6-E431-D8BD-4105A8C24405}"/>
              </a:ext>
            </a:extLst>
          </p:cNvPr>
          <p:cNvSpPr txBox="1"/>
          <p:nvPr/>
        </p:nvSpPr>
        <p:spPr>
          <a:xfrm>
            <a:off x="3169920" y="1528355"/>
            <a:ext cx="7001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Parameters over various iterations</a:t>
            </a:r>
          </a:p>
        </p:txBody>
      </p:sp>
    </p:spTree>
    <p:extLst>
      <p:ext uri="{BB962C8B-B14F-4D97-AF65-F5344CB8AC3E}">
        <p14:creationId xmlns:p14="http://schemas.microsoft.com/office/powerpoint/2010/main" val="338336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F0688-F280-7FE8-AF56-D16678EFD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9B4CEB9-D734-0831-9294-57D8B4034F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 descr="A group of cubes floating in the air">
            <a:extLst>
              <a:ext uri="{FF2B5EF4-FFF2-40B4-BE49-F238E27FC236}">
                <a16:creationId xmlns:a16="http://schemas.microsoft.com/office/drawing/2014/main" id="{D2826269-945E-7BC4-54FA-5C3D57622D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20" b="12420"/>
          <a:stretch>
            <a:fillRect/>
          </a:stretch>
        </p:blipFill>
        <p:spPr>
          <a:xfrm>
            <a:off x="0" y="-972000"/>
            <a:ext cx="12192000" cy="7818490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BD3C86D-9502-96DF-9C61-A6E37912B08C}"/>
              </a:ext>
            </a:extLst>
          </p:cNvPr>
          <p:cNvSpPr/>
          <p:nvPr/>
        </p:nvSpPr>
        <p:spPr>
          <a:xfrm>
            <a:off x="-1620964" y="-4076588"/>
            <a:ext cx="15499010" cy="15011176"/>
          </a:xfrm>
          <a:prstGeom prst="flowChartConnector">
            <a:avLst/>
          </a:prstGeom>
          <a:noFill/>
          <a:ln w="152400">
            <a:solidFill>
              <a:srgbClr val="00B050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graph with green and red dots&#10;&#10;AI-generated content may be incorrect.">
            <a:extLst>
              <a:ext uri="{FF2B5EF4-FFF2-40B4-BE49-F238E27FC236}">
                <a16:creationId xmlns:a16="http://schemas.microsoft.com/office/drawing/2014/main" id="{E89AC2E9-33DC-F70B-50D3-3AA5987D5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737" y="455647"/>
            <a:ext cx="8554526" cy="640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44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716ED-8180-D0C1-BCEF-F2F12BE58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ainting of a lake with mountains and trees">
            <a:extLst>
              <a:ext uri="{FF2B5EF4-FFF2-40B4-BE49-F238E27FC236}">
                <a16:creationId xmlns:a16="http://schemas.microsoft.com/office/drawing/2014/main" id="{60BC6E46-AF90-69BE-41A1-5D2DEE8C82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145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water">
            <a:extLst>
              <a:ext uri="{FF2B5EF4-FFF2-40B4-BE49-F238E27FC236}">
                <a16:creationId xmlns:a16="http://schemas.microsoft.com/office/drawing/2014/main" id="{D34E3AA5-9E52-682E-FD5A-C7E48E938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4926226"/>
            <a:ext cx="12192000" cy="1931773"/>
          </a:xfrm>
          <a:prstGeom prst="rect">
            <a:avLst/>
          </a:prstGeom>
        </p:spPr>
      </p:pic>
      <p:pic>
        <p:nvPicPr>
          <p:cNvPr id="7" name="Picture 6" descr="A painting of a lake with mountains and trees&#10;&#10;AI-generated content may be incorrect.">
            <a:extLst>
              <a:ext uri="{FF2B5EF4-FFF2-40B4-BE49-F238E27FC236}">
                <a16:creationId xmlns:a16="http://schemas.microsoft.com/office/drawing/2014/main" id="{868B8263-0D8E-BEDA-01C8-81FBB2CB65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 b="34520"/>
          <a:stretch/>
        </p:blipFill>
        <p:spPr>
          <a:xfrm>
            <a:off x="0" y="0"/>
            <a:ext cx="12192000" cy="4926225"/>
          </a:xfrm>
          <a:prstGeom prst="rect">
            <a:avLst/>
          </a:prstGeom>
          <a:effectLst>
            <a:reflection blurRad="6350" stA="30000" endPos="57000" dist="139700" dir="5400000" sy="-100000" algn="bl" rotWithShape="0"/>
          </a:effec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Row Boat">
                <a:extLst>
                  <a:ext uri="{FF2B5EF4-FFF2-40B4-BE49-F238E27FC236}">
                    <a16:creationId xmlns:a16="http://schemas.microsoft.com/office/drawing/2014/main" id="{676C7813-B548-96FD-05FE-989C9F427DD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917673" y="4967973"/>
              <a:ext cx="1127440" cy="38844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127440" cy="38844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glow>
                        <a:schemeClr val="accent1"/>
                      </a:glow>
                      <a:outerShdw blurRad="50800" dir="5400000" sx="79000" sy="79000" algn="t" rotWithShape="0">
                        <a:prstClr val="black">
                          <a:alpha val="0"/>
                        </a:prstClr>
                      </a:outerShdw>
                      <a:reflection stA="82000" dir="5400000" sy="-100000" algn="bl" rotWithShape="0"/>
                      <a:softEdge rad="25400"/>
                    </a:effectLst>
                    <a:scene3d>
                      <a:camera prst="orthographicFront"/>
                      <a:lightRig rig="flood" dir="t"/>
                    </a:scene3d>
                    <a:sp3d z="-95250" extrusionH="76200">
                      <a:extrusionClr>
                        <a:srgbClr val="222531"/>
                      </a:extrusionClr>
                    </a:sp3d>
                  </am3d:spPr>
                  <am3d:camera>
                    <am3d:pos x="0" y="0" z="6736780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50578" d="1000000"/>
                    <am3d:preTrans dx="0" dy="-5157511" dz="-655980"/>
                    <am3d:scale>
                      <am3d:sx n="1000000" d="1000000"/>
                      <am3d:sy n="1000000" d="1000000"/>
                      <am3d:sz n="1000000" d="1000000"/>
                    </am3d:scale>
                    <am3d:rot ax="133689" ay="4982798" az="13271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5443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Row Boat">
                <a:extLst>
                  <a:ext uri="{FF2B5EF4-FFF2-40B4-BE49-F238E27FC236}">
                    <a16:creationId xmlns:a16="http://schemas.microsoft.com/office/drawing/2014/main" id="{676C7813-B548-96FD-05FE-989C9F427DD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17673" y="4967973"/>
                <a:ext cx="1127440" cy="388446"/>
              </a:xfrm>
              <a:prstGeom prst="rect">
                <a:avLst/>
              </a:prstGeom>
              <a:noFill/>
              <a:ln>
                <a:noFill/>
              </a:ln>
              <a:effectLst>
                <a:glow>
                  <a:schemeClr val="accent1"/>
                </a:glow>
                <a:outerShdw blurRad="50800" dir="5400000" sx="79000" sy="79000" algn="t" rotWithShape="0">
                  <a:prstClr val="black">
                    <a:alpha val="0"/>
                  </a:prstClr>
                </a:outerShdw>
                <a:reflection stA="82000" dir="5400000" sy="-100000" algn="bl" rotWithShape="0"/>
                <a:softEdge rad="25400"/>
              </a:effectLst>
              <a:scene3d>
                <a:camera prst="orthographicFront"/>
                <a:lightRig rig="flood" dir="t"/>
              </a:scene3d>
              <a:sp3d z="-95250" extrusionH="76200">
                <a:extrusionClr>
                  <a:srgbClr val="222531"/>
                </a:extrusion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0" name="Section Zoom 19">
                <a:extLst>
                  <a:ext uri="{FF2B5EF4-FFF2-40B4-BE49-F238E27FC236}">
                    <a16:creationId xmlns:a16="http://schemas.microsoft.com/office/drawing/2014/main" id="{EB5E81C2-3028-33E8-A54A-98FD2C73BF1F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>
                <p:extLst>
                  <p:ext uri="{D42A27DB-BD31-4B8C-83A1-F6EECF244321}">
                    <p14:modId xmlns:p14="http://schemas.microsoft.com/office/powerpoint/2010/main" val="3432134494"/>
                  </p:ext>
                </p:extLst>
              </p:nvPr>
            </p:nvGraphicFramePr>
            <p:xfrm>
              <a:off x="375797" y="3722370"/>
              <a:ext cx="1611630" cy="906542"/>
            </p:xfrm>
            <a:graphic>
              <a:graphicData uri="http://schemas.microsoft.com/office/powerpoint/2016/sectionzoom">
                <psez:sectionZm>
                  <psez:sectionZmObj sectionId="{D16973A3-EDB5-48E2-B9AF-9050E319D977}">
                    <psez:zmPr id="{4AC8DD4F-1764-4E96-86BF-8AC0B4EBBCAC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1630" cy="906542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0" name="Section Zoom 19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EB5E81C2-3028-33E8-A54A-98FD2C73BF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5797" y="3722370"/>
                <a:ext cx="1611630" cy="906542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2" name="Section Zoom 21">
                <a:extLst>
                  <a:ext uri="{FF2B5EF4-FFF2-40B4-BE49-F238E27FC236}">
                    <a16:creationId xmlns:a16="http://schemas.microsoft.com/office/drawing/2014/main" id="{4F298F1A-915D-C3C0-B6FB-A7E9BFDF1D08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>
                <p:extLst>
                  <p:ext uri="{D42A27DB-BD31-4B8C-83A1-F6EECF244321}">
                    <p14:modId xmlns:p14="http://schemas.microsoft.com/office/powerpoint/2010/main" val="136557388"/>
                  </p:ext>
                </p:extLst>
              </p:nvPr>
            </p:nvGraphicFramePr>
            <p:xfrm>
              <a:off x="1782430" y="372364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4FD5D4E6-F7C3-4914-9318-ED19C1E6FF14}">
                    <psez:zmPr id="{7B59E664-5E19-4CAE-BE00-1984AB46BA51}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2" name="Section Zoom 21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F298F1A-915D-C3C0-B6FB-A7E9BFDF1D0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82430" y="372364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4" name="Section Zoom 23">
                <a:extLst>
                  <a:ext uri="{FF2B5EF4-FFF2-40B4-BE49-F238E27FC236}">
                    <a16:creationId xmlns:a16="http://schemas.microsoft.com/office/drawing/2014/main" id="{BA7B5A97-FD6D-A557-24A1-E6A951CFFF24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>
                <p:extLst>
                  <p:ext uri="{D42A27DB-BD31-4B8C-83A1-F6EECF244321}">
                    <p14:modId xmlns:p14="http://schemas.microsoft.com/office/powerpoint/2010/main" val="796707550"/>
                  </p:ext>
                </p:extLst>
              </p:nvPr>
            </p:nvGraphicFramePr>
            <p:xfrm>
              <a:off x="3171760" y="372237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0433E9D2-1814-48AD-9DC9-6C369C7905A5}">
                    <psez:zmPr id="{FF7D271A-69A7-4402-B1DC-D9EFA7C49681}" transitionDur="1000" showBg="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4" name="Section Zoom 23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BA7B5A97-FD6D-A557-24A1-E6A951CFFF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71760" y="372237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6" name="Section Zoom 25">
                <a:extLst>
                  <a:ext uri="{FF2B5EF4-FFF2-40B4-BE49-F238E27FC236}">
                    <a16:creationId xmlns:a16="http://schemas.microsoft.com/office/drawing/2014/main" id="{8F41E16D-366B-62DD-1A4A-A38AF1A5E066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>
                <p:extLst>
                  <p:ext uri="{D42A27DB-BD31-4B8C-83A1-F6EECF244321}">
                    <p14:modId xmlns:p14="http://schemas.microsoft.com/office/powerpoint/2010/main" val="4035679888"/>
                  </p:ext>
                </p:extLst>
              </p:nvPr>
            </p:nvGraphicFramePr>
            <p:xfrm>
              <a:off x="4633406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D1794EA3-E97F-47F1-9BA2-C666310B0362}">
                    <psez:zmPr id="{A82EA7F5-AC32-44E6-A150-CF5FA37D8A45}" transitionDur="1000" showBg="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6" name="Section Zoom 25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8F41E16D-366B-62DD-1A4A-A38AF1A5E06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33406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8" name="Section Zoom 27">
                <a:extLst>
                  <a:ext uri="{FF2B5EF4-FFF2-40B4-BE49-F238E27FC236}">
                    <a16:creationId xmlns:a16="http://schemas.microsoft.com/office/drawing/2014/main" id="{F7FD525C-7C68-D9F9-A3A7-56E35BD89016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>
                <p:extLst>
                  <p:ext uri="{D42A27DB-BD31-4B8C-83A1-F6EECF244321}">
                    <p14:modId xmlns:p14="http://schemas.microsoft.com/office/powerpoint/2010/main" val="2968553620"/>
                  </p:ext>
                </p:extLst>
              </p:nvPr>
            </p:nvGraphicFramePr>
            <p:xfrm>
              <a:off x="6125532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E8FCBE11-F932-48E1-A632-5D60819C1CF5}">
                    <psez:zmPr id="{5EA598CC-CFE4-4A5F-AF53-EEA4AEECA3F6}" transitionDur="1000" showBg="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8" name="Section Zoom 27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F7FD525C-7C68-D9F9-A3A7-56E35BD890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25532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0" name="Section Zoom 29">
                <a:extLst>
                  <a:ext uri="{FF2B5EF4-FFF2-40B4-BE49-F238E27FC236}">
                    <a16:creationId xmlns:a16="http://schemas.microsoft.com/office/drawing/2014/main" id="{AF9379BD-3282-1CD8-385F-8A725944DE40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>
                <p:extLst>
                  <p:ext uri="{D42A27DB-BD31-4B8C-83A1-F6EECF244321}">
                    <p14:modId xmlns:p14="http://schemas.microsoft.com/office/powerpoint/2010/main" val="2237079082"/>
                  </p:ext>
                </p:extLst>
              </p:nvPr>
            </p:nvGraphicFramePr>
            <p:xfrm>
              <a:off x="7597573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1DAD5F32-D26F-45D0-9156-CDF93550CF66}">
                    <psez:zmPr id="{A3DF5AED-D999-4918-A9AE-F76AC679961C}" transitionDur="1000" showBg="0">
                      <p166:blipFill xmlns:p166="http://schemas.microsoft.com/office/powerpoint/2016/6/main">
                        <a:blip r:embed="rId2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0" name="Section Zoom 29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AF9379BD-3282-1CD8-385F-8A725944DE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97573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2" name="Section Zoom 31">
                <a:extLst>
                  <a:ext uri="{FF2B5EF4-FFF2-40B4-BE49-F238E27FC236}">
                    <a16:creationId xmlns:a16="http://schemas.microsoft.com/office/drawing/2014/main" id="{78E2472D-F633-20A7-DE37-4DC92CBCA997}"/>
                  </a:ext>
                </a:extLst>
              </p:cNvPr>
              <p:cNvGraphicFramePr>
                <a:graphicFrameLocks noGrp="1" noDrilldown="1" noChangeAspect="1" noMove="1" noResize="1"/>
              </p:cNvGraphicFramePr>
              <p:nvPr>
                <p:extLst>
                  <p:ext uri="{D42A27DB-BD31-4B8C-83A1-F6EECF244321}">
                    <p14:modId xmlns:p14="http://schemas.microsoft.com/office/powerpoint/2010/main" val="2976147427"/>
                  </p:ext>
                </p:extLst>
              </p:nvPr>
            </p:nvGraphicFramePr>
            <p:xfrm>
              <a:off x="9064842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A0485FA7-F47A-4BD4-B27B-48CE6D2AB06E}">
                    <psez:zmPr id="{BC4BDDA4-2102-40E4-A3B3-8835376FEC23}" transitionDur="1000" showBg="0">
                      <p166:blipFill xmlns:p166="http://schemas.microsoft.com/office/powerpoint/2016/6/main">
                        <a:blip r:embed="rId2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2" name="Section Zoom 31">
                <a:hlinkClick r:id="rId25" action="ppaction://hlinksldjump"/>
                <a:extLst>
                  <a:ext uri="{FF2B5EF4-FFF2-40B4-BE49-F238E27FC236}">
                    <a16:creationId xmlns:a16="http://schemas.microsoft.com/office/drawing/2014/main" id="{78E2472D-F633-20A7-DE37-4DC92CBCA9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064842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4" name="Section Zoom 33">
                <a:extLst>
                  <a:ext uri="{FF2B5EF4-FFF2-40B4-BE49-F238E27FC236}">
                    <a16:creationId xmlns:a16="http://schemas.microsoft.com/office/drawing/2014/main" id="{0B52D8C7-0176-C6F7-5BD8-08A67646413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49651052"/>
                  </p:ext>
                </p:extLst>
              </p:nvPr>
            </p:nvGraphicFramePr>
            <p:xfrm>
              <a:off x="10368930" y="3721100"/>
              <a:ext cx="1612800" cy="907200"/>
            </p:xfrm>
            <a:graphic>
              <a:graphicData uri="http://schemas.microsoft.com/office/powerpoint/2016/sectionzoom">
                <psez:sectionZm>
                  <psez:sectionZmObj sectionId="{18D89ACB-5D47-4C99-8FF6-B396FE6CAB5E}">
                    <psez:zmPr id="{61603423-1EEB-45BA-9C7E-67D9B162E3E3}" returnToParent="0" transitionDur="1000" showBg="0">
                      <p166:blipFill xmlns:p166="http://schemas.microsoft.com/office/powerpoint/2016/6/main">
                        <a:blip r:embed="rId2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2800" cy="907200"/>
                        </a:xfrm>
                        <a:prstGeom prst="rect">
                          <a:avLst/>
                        </a:prstGeom>
                        <a:effectLst>
                          <a:reflection blurRad="38100" stA="50000" endA="295" endPos="92000" dist="50800" dir="5400000" sy="-100000" algn="bl" rotWithShape="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4" name="Section Zoom 33">
                <a:hlinkClick r:id="rId28" action="ppaction://hlinksldjump"/>
                <a:extLst>
                  <a:ext uri="{FF2B5EF4-FFF2-40B4-BE49-F238E27FC236}">
                    <a16:creationId xmlns:a16="http://schemas.microsoft.com/office/drawing/2014/main" id="{0B52D8C7-0176-C6F7-5BD8-08A6764641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368930" y="3721100"/>
                <a:ext cx="1612800" cy="907200"/>
              </a:xfrm>
              <a:prstGeom prst="rect">
                <a:avLst/>
              </a:prstGeom>
              <a:effectLst>
                <a:reflection blurRad="38100" stA="50000" endA="295" endPos="92000" dist="50800" dir="5400000" sy="-100000" algn="bl" rotWithShape="0"/>
              </a:effectLst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A05A51D4-B397-6874-55B8-0642C2BC9EA5}"/>
              </a:ext>
            </a:extLst>
          </p:cNvPr>
          <p:cNvGrpSpPr/>
          <p:nvPr/>
        </p:nvGrpSpPr>
        <p:grpSpPr>
          <a:xfrm>
            <a:off x="1819720" y="94425"/>
            <a:ext cx="10277351" cy="1456583"/>
            <a:chOff x="789577" y="129149"/>
            <a:chExt cx="10277351" cy="1456583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6" name="3D Model 35" descr="Cloud">
                  <a:extLst>
                    <a:ext uri="{FF2B5EF4-FFF2-40B4-BE49-F238E27FC236}">
                      <a16:creationId xmlns:a16="http://schemas.microsoft.com/office/drawing/2014/main" id="{AF16C2C1-0A1A-EA0F-C4DC-C4281E031AC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41723562"/>
                    </p:ext>
                  </p:extLst>
                </p:nvPr>
              </p:nvGraphicFramePr>
              <p:xfrm>
                <a:off x="9670930" y="183163"/>
                <a:ext cx="1395998" cy="876300"/>
              </p:xfrm>
              <a:graphic>
                <a:graphicData uri="http://schemas.microsoft.com/office/drawing/2017/model3d">
                  <am3d:model3d r:embed="rId30">
                    <am3d:spPr>
                      <a:xfrm>
                        <a:off x="0" y="0"/>
                        <a:ext cx="1395998" cy="876300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31"/>
                    </am3d:raster>
                    <am3d:objViewport viewportSz="1870827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6" name="3D Model 35" descr="Cloud">
                  <a:extLst>
                    <a:ext uri="{FF2B5EF4-FFF2-40B4-BE49-F238E27FC236}">
                      <a16:creationId xmlns:a16="http://schemas.microsoft.com/office/drawing/2014/main" id="{AF16C2C1-0A1A-EA0F-C4DC-C4281E031AC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701073" y="148439"/>
                  <a:ext cx="1395998" cy="876300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7" name="3D Model 36" descr="Cloud">
                  <a:extLst>
                    <a:ext uri="{FF2B5EF4-FFF2-40B4-BE49-F238E27FC236}">
                      <a16:creationId xmlns:a16="http://schemas.microsoft.com/office/drawing/2014/main" id="{D7717AAD-A029-99F5-DC7B-36000DEC7DE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95238224"/>
                    </p:ext>
                  </p:extLst>
                </p:nvPr>
              </p:nvGraphicFramePr>
              <p:xfrm>
                <a:off x="9036253" y="543908"/>
                <a:ext cx="1659688" cy="1041824"/>
              </p:xfrm>
              <a:graphic>
                <a:graphicData uri="http://schemas.microsoft.com/office/drawing/2017/model3d">
                  <am3d:model3d r:embed="rId30">
                    <am3d:spPr>
                      <a:xfrm>
                        <a:off x="0" y="0"/>
                        <a:ext cx="1659688" cy="1041824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32"/>
                    </am3d:raster>
                    <am3d:objViewport viewportSz="2224208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7" name="3D Model 36" descr="Cloud">
                  <a:extLst>
                    <a:ext uri="{FF2B5EF4-FFF2-40B4-BE49-F238E27FC236}">
                      <a16:creationId xmlns:a16="http://schemas.microsoft.com/office/drawing/2014/main" id="{D7717AAD-A029-99F5-DC7B-36000DEC7DE0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066396" y="509184"/>
                  <a:ext cx="1659688" cy="1041824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8" name="3D Model 37" descr="Cloud">
                  <a:extLst>
                    <a:ext uri="{FF2B5EF4-FFF2-40B4-BE49-F238E27FC236}">
                      <a16:creationId xmlns:a16="http://schemas.microsoft.com/office/drawing/2014/main" id="{9D21F5CA-C73C-3BBD-72AB-9B6A91326D8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89969817"/>
                    </p:ext>
                  </p:extLst>
                </p:nvPr>
              </p:nvGraphicFramePr>
              <p:xfrm>
                <a:off x="7498748" y="129149"/>
                <a:ext cx="1008643" cy="633148"/>
              </p:xfrm>
              <a:graphic>
                <a:graphicData uri="http://schemas.microsoft.com/office/drawing/2017/model3d">
                  <am3d:model3d r:embed="rId30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33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8" name="3D Model 37" descr="Cloud">
                  <a:extLst>
                    <a:ext uri="{FF2B5EF4-FFF2-40B4-BE49-F238E27FC236}">
                      <a16:creationId xmlns:a16="http://schemas.microsoft.com/office/drawing/2014/main" id="{9D21F5CA-C73C-3BBD-72AB-9B6A91326D8A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28891" y="94425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9" name="3D Model 38" descr="Cloud">
                  <a:extLst>
                    <a:ext uri="{FF2B5EF4-FFF2-40B4-BE49-F238E27FC236}">
                      <a16:creationId xmlns:a16="http://schemas.microsoft.com/office/drawing/2014/main" id="{F1B9EFDE-5769-8F46-8CCA-8CB4099AA7E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09865708"/>
                    </p:ext>
                  </p:extLst>
                </p:nvPr>
              </p:nvGraphicFramePr>
              <p:xfrm>
                <a:off x="2940250" y="871860"/>
                <a:ext cx="1008643" cy="633148"/>
              </p:xfrm>
              <a:graphic>
                <a:graphicData uri="http://schemas.microsoft.com/office/drawing/2017/model3d">
                  <am3d:model3d r:embed="rId30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noFill/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33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9" name="3D Model 38" descr="Cloud">
                  <a:extLst>
                    <a:ext uri="{FF2B5EF4-FFF2-40B4-BE49-F238E27FC236}">
                      <a16:creationId xmlns:a16="http://schemas.microsoft.com/office/drawing/2014/main" id="{F1B9EFDE-5769-8F46-8CCA-8CB4099AA7E9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70393" y="837136"/>
                  <a:ext cx="1008643" cy="633148"/>
                </a:xfrm>
                <a:prstGeom prst="rect">
                  <a:avLst/>
                </a:prstGeom>
                <a:noFill/>
                <a:effectLst/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40" name="3D Model 39" descr="Cloud">
                  <a:extLst>
                    <a:ext uri="{FF2B5EF4-FFF2-40B4-BE49-F238E27FC236}">
                      <a16:creationId xmlns:a16="http://schemas.microsoft.com/office/drawing/2014/main" id="{472B4909-35BB-3E2A-7EC1-EE5C557EE3B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48877600"/>
                    </p:ext>
                  </p:extLst>
                </p:nvPr>
              </p:nvGraphicFramePr>
              <p:xfrm>
                <a:off x="789577" y="426315"/>
                <a:ext cx="1008643" cy="633148"/>
              </p:xfrm>
              <a:graphic>
                <a:graphicData uri="http://schemas.microsoft.com/office/drawing/2017/model3d">
                  <am3d:model3d r:embed="rId30">
                    <am3d:spPr>
                      <a:xfrm>
                        <a:off x="0" y="0"/>
                        <a:ext cx="1008643" cy="633148"/>
                      </a:xfrm>
                      <a:prstGeom prst="rect">
                        <a:avLst/>
                      </a:prstGeom>
                      <a:effectLst/>
                    </am3d:spPr>
                    <am3d:camera>
                      <am3d:pos x="0" y="0" z="6593000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072774" d="1000000"/>
                      <am3d:preTrans dx="983301" dy="-9956585" dz="-60118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33"/>
                    </am3d:raster>
                    <am3d:objViewport viewportSz="1351719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40" name="3D Model 39" descr="Cloud">
                  <a:extLst>
                    <a:ext uri="{FF2B5EF4-FFF2-40B4-BE49-F238E27FC236}">
                      <a16:creationId xmlns:a16="http://schemas.microsoft.com/office/drawing/2014/main" id="{472B4909-35BB-3E2A-7EC1-EE5C557EE3BA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19720" y="391591"/>
                  <a:ext cx="1008643" cy="633148"/>
                </a:xfrm>
                <a:prstGeom prst="rect">
                  <a:avLst/>
                </a:prstGeom>
                <a:effectLst/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6370E2-1BF7-864C-D2D3-75EBC372FCD4}"/>
              </a:ext>
            </a:extLst>
          </p:cNvPr>
          <p:cNvSpPr txBox="1"/>
          <p:nvPr/>
        </p:nvSpPr>
        <p:spPr>
          <a:xfrm>
            <a:off x="1685183" y="1732268"/>
            <a:ext cx="901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Self-Optimal Clustering Technique Using Optimized Threshold Function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124555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3907 0.01018 L 0.94779 0.01018 " pathEditMode="relative" ptsTypes="AA">
                                      <p:cBhvr>
                                        <p:cTn id="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59259E-6 L -0.07981 2.59259E-6 " pathEditMode="relative" rAng="0" ptsTypes="AA">
                                      <p:cBhvr>
                                        <p:cTn id="14" dur="1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99C18-4D15-8062-2CC5-92EC9C3EA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FB62C7D-133A-6D37-AB7A-9E39011A84F4}"/>
              </a:ext>
            </a:extLst>
          </p:cNvPr>
          <p:cNvGrpSpPr/>
          <p:nvPr/>
        </p:nvGrpSpPr>
        <p:grpSpPr>
          <a:xfrm>
            <a:off x="2779551" y="185420"/>
            <a:ext cx="6697980" cy="6487160"/>
            <a:chOff x="2747010" y="185420"/>
            <a:chExt cx="6697980" cy="6487160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CDC1E625-B2B9-3370-04A4-FC8227568C44}"/>
                </a:ext>
              </a:extLst>
            </p:cNvPr>
            <p:cNvSpPr/>
            <p:nvPr/>
          </p:nvSpPr>
          <p:spPr>
            <a:xfrm>
              <a:off x="2747010" y="185420"/>
              <a:ext cx="6697980" cy="6487160"/>
            </a:xfrm>
            <a:prstGeom prst="flowChartConnector">
              <a:avLst/>
            </a:prstGeom>
            <a:solidFill>
              <a:srgbClr val="989292">
                <a:alpha val="40000"/>
              </a:srgbClr>
            </a:solidFill>
            <a:ln w="152400">
              <a:solidFill>
                <a:srgbClr val="00B05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9BEDDD7-1705-5A7A-737B-D12DD5E7C698}"/>
                </a:ext>
              </a:extLst>
            </p:cNvPr>
            <p:cNvSpPr txBox="1"/>
            <p:nvPr/>
          </p:nvSpPr>
          <p:spPr>
            <a:xfrm>
              <a:off x="3451439" y="3678535"/>
              <a:ext cx="5625296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48C89F4-8220-8C3E-BECC-1411CA04C524}"/>
                </a:ext>
              </a:extLst>
            </p:cNvPr>
            <p:cNvSpPr txBox="1"/>
            <p:nvPr/>
          </p:nvSpPr>
          <p:spPr>
            <a:xfrm>
              <a:off x="2933505" y="2625467"/>
              <a:ext cx="625990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6600" b="1" dirty="0">
                  <a:solidFill>
                    <a:srgbClr val="FFFFFF"/>
                  </a:solidFill>
                </a:rPr>
                <a:t>Summary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680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59EA4-11F6-0A7E-2BF1-F567701B3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AEC7398-B229-AA70-2DCD-049B2A00C0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 descr="A group of cubes floating in the air">
            <a:extLst>
              <a:ext uri="{FF2B5EF4-FFF2-40B4-BE49-F238E27FC236}">
                <a16:creationId xmlns:a16="http://schemas.microsoft.com/office/drawing/2014/main" id="{44B27578-1BCC-08AC-D544-7B4E10F816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20" b="12420"/>
          <a:stretch>
            <a:fillRect/>
          </a:stretch>
        </p:blipFill>
        <p:spPr>
          <a:xfrm>
            <a:off x="0" y="-972000"/>
            <a:ext cx="12192000" cy="7818490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7CC44C64-E7ED-874D-9E2A-94FA43F52281}"/>
              </a:ext>
            </a:extLst>
          </p:cNvPr>
          <p:cNvSpPr/>
          <p:nvPr/>
        </p:nvSpPr>
        <p:spPr>
          <a:xfrm>
            <a:off x="-1620964" y="-4076588"/>
            <a:ext cx="15499010" cy="15011176"/>
          </a:xfrm>
          <a:prstGeom prst="flowChartConnector">
            <a:avLst/>
          </a:prstGeom>
          <a:noFill/>
          <a:ln w="152400">
            <a:solidFill>
              <a:srgbClr val="00B050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5C608C-79D0-6BB1-C0FE-304C66F5F069}"/>
              </a:ext>
            </a:extLst>
          </p:cNvPr>
          <p:cNvSpPr>
            <a:spLocks noGrp="1"/>
          </p:cNvSpPr>
          <p:nvPr/>
        </p:nvSpPr>
        <p:spPr>
          <a:xfrm>
            <a:off x="484267" y="150471"/>
            <a:ext cx="11252461" cy="6342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3200" b="1" dirty="0"/>
              <a:t>Summary</a:t>
            </a:r>
          </a:p>
          <a:p>
            <a:pPr marL="0" indent="0">
              <a:buNone/>
            </a:pPr>
            <a:r>
              <a:rPr lang="en-IN" dirty="0"/>
              <a:t>1.SOC is parameter free,</a:t>
            </a:r>
            <a:r>
              <a:rPr lang="en-US" b="1" dirty="0"/>
              <a:t> </a:t>
            </a:r>
            <a:r>
              <a:rPr lang="en-US" dirty="0"/>
              <a:t>density-based clustering algorithm that intelligently determines both the number of clusters and the optimal threshold for cluster formation.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2.Produces high-quality, well-separated clusters across a variety of test scenarios.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3.SOC applications are in Pattern recognition, data mining, bioinformatics and sensor networks 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Its performance, validated through both statistical and visual tools, positions it as a strong alternative to conventional clustering methods, especially in scenarios where prior knowledge of data structure is unavailable.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9876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00FE1-E967-1523-445C-D0A7212E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22C0B87-6E9B-3148-0DE9-2FF4F80ED4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 descr="A group of cubes floating in the air">
            <a:extLst>
              <a:ext uri="{FF2B5EF4-FFF2-40B4-BE49-F238E27FC236}">
                <a16:creationId xmlns:a16="http://schemas.microsoft.com/office/drawing/2014/main" id="{5EEB8D9A-09C3-9618-08D4-DB85498D57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20" b="12420"/>
          <a:stretch>
            <a:fillRect/>
          </a:stretch>
        </p:blipFill>
        <p:spPr>
          <a:xfrm>
            <a:off x="0" y="-972000"/>
            <a:ext cx="12192000" cy="7818490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D94B5A0A-CFF3-0CA0-310D-5128D37C9C88}"/>
              </a:ext>
            </a:extLst>
          </p:cNvPr>
          <p:cNvSpPr/>
          <p:nvPr/>
        </p:nvSpPr>
        <p:spPr>
          <a:xfrm>
            <a:off x="-1620964" y="-4076588"/>
            <a:ext cx="15499010" cy="15011176"/>
          </a:xfrm>
          <a:prstGeom prst="flowChartConnector">
            <a:avLst/>
          </a:prstGeom>
          <a:noFill/>
          <a:ln w="152400">
            <a:solidFill>
              <a:srgbClr val="00B050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80CEC2-CFC0-2300-EAA4-22CCFAC9F108}"/>
              </a:ext>
            </a:extLst>
          </p:cNvPr>
          <p:cNvSpPr txBox="1"/>
          <p:nvPr/>
        </p:nvSpPr>
        <p:spPr>
          <a:xfrm>
            <a:off x="3931920" y="2882697"/>
            <a:ext cx="432816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5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66844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3146</TotalTime>
  <Words>1012</Words>
  <Application>Microsoft Office PowerPoint</Application>
  <PresentationFormat>Widescreen</PresentationFormat>
  <Paragraphs>169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Cambria Math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 Prakash</dc:creator>
  <cp:lastModifiedBy>KUNAL CHANDRA</cp:lastModifiedBy>
  <cp:revision>13</cp:revision>
  <dcterms:created xsi:type="dcterms:W3CDTF">2025-04-09T19:54:17Z</dcterms:created>
  <dcterms:modified xsi:type="dcterms:W3CDTF">2025-07-09T06:29:41Z</dcterms:modified>
</cp:coreProperties>
</file>